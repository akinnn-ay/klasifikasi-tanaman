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8" r:id="rId3"/>
    <p:sldId id="257" r:id="rId4"/>
    <p:sldId id="258" r:id="rId5"/>
    <p:sldId id="266" r:id="rId6"/>
    <p:sldId id="259" r:id="rId7"/>
    <p:sldId id="267" r:id="rId8"/>
    <p:sldId id="275" r:id="rId9"/>
    <p:sldId id="276" r:id="rId10"/>
    <p:sldId id="277" r:id="rId11"/>
    <p:sldId id="260" r:id="rId12"/>
    <p:sldId id="271" r:id="rId13"/>
    <p:sldId id="272" r:id="rId14"/>
    <p:sldId id="274" r:id="rId15"/>
    <p:sldId id="268" r:id="rId16"/>
    <p:sldId id="261" r:id="rId17"/>
    <p:sldId id="273" r:id="rId18"/>
    <p:sldId id="270" r:id="rId19"/>
    <p:sldId id="262" r:id="rId20"/>
    <p:sldId id="269" r:id="rId21"/>
    <p:sldId id="263" r:id="rId22"/>
    <p:sldId id="264" r:id="rId23"/>
    <p:sldId id="265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BF025E8F-9242-2D93-0516-BE73E142AF5D}">
          <p14:sldIdLst>
            <p14:sldId id="256"/>
            <p14:sldId id="278"/>
            <p14:sldId id="257"/>
          </p14:sldIdLst>
        </p14:section>
        <p14:section name="Data" id="{7BF214ED-3DDF-C586-69C1-5CC892B4DD6F}">
          <p14:sldIdLst>
            <p14:sldId id="258"/>
            <p14:sldId id="266"/>
            <p14:sldId id="259"/>
            <p14:sldId id="267"/>
            <p14:sldId id="275"/>
            <p14:sldId id="276"/>
            <p14:sldId id="277"/>
          </p14:sldIdLst>
        </p14:section>
        <p14:section name="Model" id="{927BEAD4-5948-704D-6078-7E07A8A510EF}">
          <p14:sldIdLst>
            <p14:sldId id="260"/>
            <p14:sldId id="271"/>
            <p14:sldId id="272"/>
            <p14:sldId id="274"/>
            <p14:sldId id="268"/>
            <p14:sldId id="261"/>
            <p14:sldId id="273"/>
            <p14:sldId id="270"/>
            <p14:sldId id="262"/>
            <p14:sldId id="269"/>
            <p14:sldId id="263"/>
            <p14:sldId id="264"/>
          </p14:sldIdLst>
        </p14:section>
        <p14:section name="Penutup" id="{18C8ADE6-6B50-60C2-78C1-1C300E7BE8BA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400" b="0">
                <a:solidFill>
                  <a:srgbClr val="0D47A1"/>
                </a:solidFill>
                <a:latin typeface="+mn-lt"/>
              </a:defRPr>
            </a:pPr>
            <a:r>
              <a:rPr lang="en-ID" sz="1400" b="0">
                <a:solidFill>
                  <a:srgbClr val="0D47A1"/>
                </a:solidFill>
                <a:latin typeface="+mn-lt"/>
              </a:rPr>
              <a:t>Metrik evaluasi pada 80 data uji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0D47A1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100" b="0">
                    <a:solidFill>
                      <a:srgbClr val="1A2B3C"/>
                    </a:solidFill>
                    <a:latin typeface="+mn-lt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Akurasi</c:v>
                </c:pt>
                <c:pt idx="1">
                  <c:v>Presisi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E0-4EA8-B60D-41BE6276A80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Naive Bayes</c:v>
                </c:pt>
              </c:strCache>
            </c:strRef>
          </c:tx>
          <c:spPr>
            <a:solidFill>
              <a:srgbClr val="64B5F6"/>
            </a:solidFill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100" b="0">
                    <a:solidFill>
                      <a:srgbClr val="1A2B3C"/>
                    </a:solidFill>
                    <a:latin typeface="+mn-lt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Akurasi</c:v>
                </c:pt>
                <c:pt idx="1">
                  <c:v>Presisi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E0-4EA8-B60D-41BE6276A8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10"/>
        <c:axId val="111111"/>
        <c:axId val="222222"/>
      </c:barChart>
      <c:catAx>
        <c:axId val="111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200" b="0">
                <a:solidFill>
                  <a:srgbClr val="1A2B3C"/>
                </a:solidFill>
                <a:latin typeface="+mn-lt"/>
              </a:defRPr>
            </a:pPr>
            <a:endParaRPr lang="en-US"/>
          </a:p>
        </c:txPr>
        <c:crossAx val="222222"/>
        <c:crosses val="autoZero"/>
        <c:auto val="1"/>
        <c:lblAlgn val="ctr"/>
        <c:lblOffset val="100"/>
        <c:noMultiLvlLbl val="1"/>
      </c:catAx>
      <c:valAx>
        <c:axId val="222222"/>
        <c:scaling>
          <c:orientation val="minMax"/>
          <c:max val="110"/>
          <c:min val="0"/>
        </c:scaling>
        <c:delete val="0"/>
        <c:axPos val="l"/>
        <c:majorGridlines>
          <c:spPr>
            <a:ln w="6350">
              <a:solidFill>
                <a:srgbClr val="D9E2EC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1A2B3C"/>
                </a:solidFill>
                <a:latin typeface="+mn-lt"/>
              </a:defRPr>
            </a:pPr>
            <a:endParaRPr lang="en-US"/>
          </a:p>
        </c:txPr>
        <c:crossAx val="111111"/>
        <c:crosses val="autoZero"/>
        <c:crossBetween val="between"/>
        <c:majorUnit val="25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1200" b="0">
              <a:solidFill>
                <a:srgbClr val="1A2B3C"/>
              </a:solidFill>
              <a:latin typeface="+mn-lt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0663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0D47A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rgbClr val="0D47A1"/>
                </a:solidFill>
              </a:rPr>
              <a:t>Judul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7D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Judul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BDEF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Judul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7D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microsoft.com/office/2007/relationships/hdphoto" Target="../media/hdphoto2.wd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5" Type="http://schemas.microsoft.com/office/2007/relationships/hdphoto" Target="../media/hdphoto1.wdp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BDEFB"/>
                </a:solidFill>
              </a:rPr>
              <a:t>PROJECT MACHINE LEARNING  |  SDGs 2: TANPA KELAPARAN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REKOMENDASI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TANAMAN PANGAN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Perbandingan 2 algoritma klasifikasi berdasarkan unsur hara tanah dan kondisi iklim</a:t>
            </a:r>
            <a:endParaRPr lang="en-US" sz="1600" dirty="0"/>
          </a:p>
        </p:txBody>
      </p:sp>
      <p:sp>
        <p:nvSpPr>
          <p:cNvPr id="5" name="Cover Card"/>
          <p:cNvSpPr/>
          <p:nvPr/>
        </p:nvSpPr>
        <p:spPr>
          <a:xfrm>
            <a:off x="5760720" y="1371600"/>
            <a:ext cx="2834640" cy="2560320"/>
          </a:xfrm>
          <a:prstGeom prst="roundRect">
            <a:avLst>
              <a:gd name="adj" fmla="val 5357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0" y="16002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4</a:t>
            </a:r>
            <a:endParaRPr lang="en-US" sz="4000" dirty="0"/>
          </a:p>
          <a:p>
            <a:pPr marL="0" indent="0">
              <a:buNone/>
            </a:pPr>
            <a:r>
              <a:rPr lang="en-US" sz="1400" dirty="0">
                <a:solidFill>
                  <a:srgbClr val="BBDEFB"/>
                </a:solidFill>
              </a:rPr>
              <a:t>jenis tanaman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7</a:t>
            </a:r>
            <a:endParaRPr lang="en-US" sz="4000" dirty="0"/>
          </a:p>
          <a:p>
            <a:pPr marL="0" indent="0">
              <a:buNone/>
            </a:pPr>
            <a:r>
              <a:rPr lang="en-US" sz="1400" dirty="0">
                <a:solidFill>
                  <a:srgbClr val="BBDEFB"/>
                </a:solidFill>
              </a:rPr>
              <a:t>fitur tanah &amp; iklim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enyus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47A1"/>
                </a:solidFill>
              </a:rPr>
              <a:t>Penyusun</a:t>
            </a:r>
            <a:endParaRPr lang="en-US" sz="3600" dirty="0"/>
          </a:p>
        </p:txBody>
      </p:sp>
      <p:sp>
        <p:nvSpPr>
          <p:cNvPr id="3" name="Ikon Penyusun"/>
          <p:cNvSpPr/>
          <p:nvPr/>
        </p:nvSpPr>
        <p:spPr>
          <a:xfrm>
            <a:off x="8183880" y="429768"/>
            <a:ext cx="502920" cy="5029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4" name="Image 0" descr="Penyusu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4522" y="540410"/>
            <a:ext cx="281635" cy="281635"/>
          </a:xfrm>
          <a:prstGeom prst="rect">
            <a:avLst/>
          </a:prstGeom>
        </p:spPr>
      </p:pic>
      <p:sp>
        <p:nvSpPr>
          <p:cNvPr id="30" name="Kartu Penyusun 1"/>
          <p:cNvSpPr/>
          <p:nvPr/>
        </p:nvSpPr>
        <p:spPr>
          <a:xfrm>
            <a:off x="457200" y="1188720"/>
            <a:ext cx="2621280" cy="2926080"/>
          </a:xfrm>
          <a:prstGeom prst="roundRect">
            <a:avLst>
              <a:gd name="adj" fmla="val 7500"/>
            </a:avLst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1" name="Foto Penyusun 1" descr="Placeholder foto penyusun 1"/>
          <p:cNvSpPr/>
          <p:nvPr/>
        </p:nvSpPr>
        <p:spPr>
          <a:xfrm>
            <a:off x="1264920" y="1371600"/>
            <a:ext cx="1005840" cy="1005840"/>
          </a:xfrm>
          <a:prstGeom prst="ellipse">
            <a:avLst/>
          </a:prstGeom>
          <a:solidFill>
            <a:srgbClr val="E3F2FD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32" name="Ikon Foto 1" descr="Ikon penggun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240" y="1645920"/>
            <a:ext cx="457200" cy="457200"/>
          </a:xfrm>
          <a:prstGeom prst="rect">
            <a:avLst/>
          </a:prstGeom>
        </p:spPr>
      </p:pic>
      <p:sp>
        <p:nvSpPr>
          <p:cNvPr id="33" name="Nama Penyusun 1"/>
          <p:cNvSpPr txBox="1"/>
          <p:nvPr/>
        </p:nvSpPr>
        <p:spPr>
          <a:xfrm>
            <a:off x="594360" y="2514600"/>
            <a:ext cx="234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AINUL YAKIN</a:t>
            </a:r>
            <a:endParaRPr lang="id-ID" sz="1600" b="1" dirty="0">
              <a:solidFill>
                <a:srgbClr val="FFFFFF"/>
              </a:solidFill>
            </a:endParaRPr>
          </a:p>
          <a:p>
            <a:pPr marL="0" indent="0" algn="ctr">
              <a:buNone/>
            </a:pPr>
            <a:r>
              <a:rPr lang="id-ID" sz="1200" dirty="0">
                <a:solidFill>
                  <a:srgbClr val="E3F2FD"/>
                </a:solidFill>
              </a:rPr>
              <a:t>NIM </a:t>
            </a:r>
            <a:r>
              <a:rPr lang="en-US" sz="1200" dirty="0">
                <a:solidFill>
                  <a:srgbClr val="E3F2FD"/>
                </a:solidFill>
              </a:rPr>
              <a:t>F1G125002</a:t>
            </a:r>
            <a:endParaRPr lang="id-ID" sz="1200" dirty="0">
              <a:solidFill>
                <a:srgbClr val="E3F2FD"/>
              </a:solidFill>
            </a:endParaRPr>
          </a:p>
        </p:txBody>
      </p:sp>
      <p:sp>
        <p:nvSpPr>
          <p:cNvPr id="34" name="Kontribusi Penyusun 1"/>
          <p:cNvSpPr txBox="1"/>
          <p:nvPr/>
        </p:nvSpPr>
        <p:spPr>
          <a:xfrm>
            <a:off x="594360" y="3291840"/>
            <a:ext cx="234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id-ID" sz="1200" b="1" dirty="0">
                <a:solidFill>
                  <a:srgbClr val="FFFFFF"/>
                </a:solidFill>
              </a:rPr>
              <a:t>Kontribusi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E3F2FD"/>
                </a:solidFill>
              </a:rPr>
              <a:t>🙂</a:t>
            </a:r>
            <a:endParaRPr lang="id-ID" sz="1200" dirty="0">
              <a:solidFill>
                <a:srgbClr val="E3F2FD"/>
              </a:solidFill>
            </a:endParaRPr>
          </a:p>
        </p:txBody>
      </p:sp>
      <p:sp>
        <p:nvSpPr>
          <p:cNvPr id="35" name="Kartu Penyusun 2"/>
          <p:cNvSpPr/>
          <p:nvPr/>
        </p:nvSpPr>
        <p:spPr>
          <a:xfrm>
            <a:off x="3261360" y="1188720"/>
            <a:ext cx="2621280" cy="2926080"/>
          </a:xfrm>
          <a:prstGeom prst="roundRect">
            <a:avLst>
              <a:gd name="adj" fmla="val 75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Foto Penyusun 2" descr="Placeholder foto penyusun 2"/>
          <p:cNvSpPr/>
          <p:nvPr/>
        </p:nvSpPr>
        <p:spPr>
          <a:xfrm>
            <a:off x="4069080" y="1371600"/>
            <a:ext cx="1005840" cy="1005840"/>
          </a:xfrm>
          <a:prstGeom prst="ellipse">
            <a:avLst/>
          </a:prstGeom>
          <a:solidFill>
            <a:srgbClr val="E3F2FD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37" name="Ikon Foto 2" descr="Ikon penggun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645920"/>
            <a:ext cx="457200" cy="457200"/>
          </a:xfrm>
          <a:prstGeom prst="rect">
            <a:avLst/>
          </a:prstGeom>
        </p:spPr>
      </p:pic>
      <p:sp>
        <p:nvSpPr>
          <p:cNvPr id="38" name="Nama Penyusun 2"/>
          <p:cNvSpPr txBox="1"/>
          <p:nvPr/>
        </p:nvSpPr>
        <p:spPr>
          <a:xfrm>
            <a:off x="3398520" y="2514600"/>
            <a:ext cx="234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id-ID" sz="1600" b="1" dirty="0">
                <a:solidFill>
                  <a:srgbClr val="FFFFFF"/>
                </a:solidFill>
              </a:rPr>
              <a:t>Nama Penyusun 2</a:t>
            </a:r>
          </a:p>
          <a:p>
            <a:pPr marL="0" indent="0" algn="ctr">
              <a:buNone/>
            </a:pPr>
            <a:r>
              <a:rPr lang="id-ID" sz="1200" dirty="0">
                <a:solidFill>
                  <a:srgbClr val="E3F2FD"/>
                </a:solidFill>
              </a:rPr>
              <a:t>NIM 000000002</a:t>
            </a:r>
          </a:p>
        </p:txBody>
      </p:sp>
      <p:sp>
        <p:nvSpPr>
          <p:cNvPr id="39" name="Kontribusi Penyusun 2"/>
          <p:cNvSpPr txBox="1"/>
          <p:nvPr/>
        </p:nvSpPr>
        <p:spPr>
          <a:xfrm>
            <a:off x="3398520" y="3291840"/>
            <a:ext cx="234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id-ID" sz="1200" b="1" dirty="0">
                <a:solidFill>
                  <a:srgbClr val="FFFFFF"/>
                </a:solidFill>
              </a:rPr>
              <a:t>Kontribusi</a:t>
            </a:r>
          </a:p>
          <a:p>
            <a:pPr marL="0" indent="0" algn="ctr">
              <a:buNone/>
            </a:pPr>
            <a:r>
              <a:rPr lang="id-ID" sz="1200" dirty="0">
                <a:solidFill>
                  <a:srgbClr val="E3F2FD"/>
                </a:solidFill>
              </a:rPr>
              <a:t>Tuliskan bagian yang dikerjakan</a:t>
            </a:r>
          </a:p>
        </p:txBody>
      </p:sp>
      <p:sp>
        <p:nvSpPr>
          <p:cNvPr id="40" name="Kartu Penyusun 3"/>
          <p:cNvSpPr/>
          <p:nvPr/>
        </p:nvSpPr>
        <p:spPr>
          <a:xfrm>
            <a:off x="6065520" y="1188720"/>
            <a:ext cx="2621280" cy="2926080"/>
          </a:xfrm>
          <a:prstGeom prst="roundRect">
            <a:avLst>
              <a:gd name="adj" fmla="val 7500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41" name="Foto Penyusun 3" descr="Placeholder foto penyusun 3"/>
          <p:cNvSpPr/>
          <p:nvPr/>
        </p:nvSpPr>
        <p:spPr>
          <a:xfrm>
            <a:off x="6873240" y="1371600"/>
            <a:ext cx="1005840" cy="1005840"/>
          </a:xfrm>
          <a:prstGeom prst="ellipse">
            <a:avLst/>
          </a:prstGeom>
          <a:solidFill>
            <a:srgbClr val="E3F2FD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42" name="Ikon Foto 3" descr="Ikon penggun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7560" y="1645920"/>
            <a:ext cx="457200" cy="457200"/>
          </a:xfrm>
          <a:prstGeom prst="rect">
            <a:avLst/>
          </a:prstGeom>
        </p:spPr>
      </p:pic>
      <p:sp>
        <p:nvSpPr>
          <p:cNvPr id="43" name="Nama Penyusun 3"/>
          <p:cNvSpPr txBox="1"/>
          <p:nvPr/>
        </p:nvSpPr>
        <p:spPr>
          <a:xfrm>
            <a:off x="6202680" y="2514600"/>
            <a:ext cx="234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id-ID" sz="1600" b="1" dirty="0">
                <a:solidFill>
                  <a:srgbClr val="FFFFFF"/>
                </a:solidFill>
              </a:rPr>
              <a:t>Nama Penyusun 3</a:t>
            </a:r>
          </a:p>
          <a:p>
            <a:pPr marL="0" indent="0" algn="ctr">
              <a:buNone/>
            </a:pPr>
            <a:r>
              <a:rPr lang="id-ID" sz="1200" dirty="0">
                <a:solidFill>
                  <a:srgbClr val="E3F2FD"/>
                </a:solidFill>
              </a:rPr>
              <a:t>NIM 000000003</a:t>
            </a:r>
          </a:p>
        </p:txBody>
      </p:sp>
      <p:sp>
        <p:nvSpPr>
          <p:cNvPr id="44" name="Kontribusi Penyusun 3"/>
          <p:cNvSpPr txBox="1"/>
          <p:nvPr/>
        </p:nvSpPr>
        <p:spPr>
          <a:xfrm>
            <a:off x="6202680" y="3291840"/>
            <a:ext cx="234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id-ID" sz="1200" b="1" dirty="0">
                <a:solidFill>
                  <a:srgbClr val="FFFFFF"/>
                </a:solidFill>
              </a:rPr>
              <a:t>Kontribusi</a:t>
            </a:r>
          </a:p>
          <a:p>
            <a:pPr marL="0" indent="0" algn="ctr">
              <a:buNone/>
            </a:pPr>
            <a:r>
              <a:rPr lang="id-ID" sz="1200" dirty="0">
                <a:solidFill>
                  <a:srgbClr val="E3F2FD"/>
                </a:solidFill>
              </a:rPr>
              <a:t>Tuliskan bagian yang dikerjakan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7D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34958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47A1"/>
                </a:solidFill>
              </a:rPr>
              <a:t>Latar Belakang</a:t>
            </a:r>
            <a:endParaRPr lang="en-US" sz="36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CA83ACD-3E7F-1F1A-73A8-AB2B35801674}"/>
              </a:ext>
            </a:extLst>
          </p:cNvPr>
          <p:cNvGrpSpPr/>
          <p:nvPr/>
        </p:nvGrpSpPr>
        <p:grpSpPr>
          <a:xfrm>
            <a:off x="7651878" y="114300"/>
            <a:ext cx="1354232" cy="392277"/>
            <a:chOff x="6958584" y="429768"/>
            <a:chExt cx="1728216" cy="502920"/>
          </a:xfrm>
        </p:grpSpPr>
        <p:sp>
          <p:nvSpPr>
            <p:cNvPr id="3" name="Ikon FaSeedling"/>
            <p:cNvSpPr/>
            <p:nvPr/>
          </p:nvSpPr>
          <p:spPr>
            <a:xfrm>
              <a:off x="6958584" y="429768"/>
              <a:ext cx="502920" cy="502920"/>
            </a:xfrm>
            <a:prstGeom prst="ellipse">
              <a:avLst/>
            </a:prstGeom>
            <a:solidFill>
              <a:srgbClr val="E3F2FD"/>
            </a:solidFill>
            <a:ln w="12700">
              <a:solidFill>
                <a:srgbClr val="A5D6A7"/>
              </a:solidFill>
              <a:prstDash val="solid"/>
            </a:ln>
          </p:spPr>
        </p:sp>
        <p:pic>
          <p:nvPicPr>
            <p:cNvPr id="4" name="Image 0" descr="Seedli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69226" y="540410"/>
              <a:ext cx="281635" cy="281635"/>
            </a:xfrm>
            <a:prstGeom prst="rect">
              <a:avLst/>
            </a:prstGeom>
          </p:spPr>
        </p:pic>
        <p:sp>
          <p:nvSpPr>
            <p:cNvPr id="5" name="Ikon FaDroplet"/>
            <p:cNvSpPr/>
            <p:nvPr/>
          </p:nvSpPr>
          <p:spPr>
            <a:xfrm>
              <a:off x="7571232" y="429768"/>
              <a:ext cx="502920" cy="502920"/>
            </a:xfrm>
            <a:prstGeom prst="ellipse">
              <a:avLst/>
            </a:prstGeom>
            <a:solidFill>
              <a:srgbClr val="E3F2FD"/>
            </a:solidFill>
            <a:ln w="12700">
              <a:solidFill>
                <a:srgbClr val="A5D6A7"/>
              </a:solidFill>
              <a:prstDash val="solid"/>
            </a:ln>
          </p:spPr>
        </p:sp>
        <p:pic>
          <p:nvPicPr>
            <p:cNvPr id="6" name="Image 1" descr="Droplet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81874" y="540410"/>
              <a:ext cx="281635" cy="281635"/>
            </a:xfrm>
            <a:prstGeom prst="rect">
              <a:avLst/>
            </a:prstGeom>
          </p:spPr>
        </p:pic>
        <p:sp>
          <p:nvSpPr>
            <p:cNvPr id="7" name="Ikon FaSun"/>
            <p:cNvSpPr/>
            <p:nvPr/>
          </p:nvSpPr>
          <p:spPr>
            <a:xfrm>
              <a:off x="8183880" y="429768"/>
              <a:ext cx="502920" cy="502920"/>
            </a:xfrm>
            <a:prstGeom prst="ellipse">
              <a:avLst/>
            </a:prstGeom>
            <a:solidFill>
              <a:srgbClr val="E3F2FD"/>
            </a:solidFill>
            <a:ln w="12700">
              <a:solidFill>
                <a:srgbClr val="A5D6A7"/>
              </a:solidFill>
              <a:prstDash val="solid"/>
            </a:ln>
          </p:spPr>
        </p:sp>
        <p:pic>
          <p:nvPicPr>
            <p:cNvPr id="8" name="Image 2" descr="Sun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94522" y="540410"/>
              <a:ext cx="281635" cy="281635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F1302CA-B854-0DF0-8768-AEE3E01A4EEF}"/>
              </a:ext>
            </a:extLst>
          </p:cNvPr>
          <p:cNvGrpSpPr/>
          <p:nvPr/>
        </p:nvGrpSpPr>
        <p:grpSpPr>
          <a:xfrm>
            <a:off x="157551" y="4557088"/>
            <a:ext cx="2458248" cy="409652"/>
            <a:chOff x="457200" y="3840480"/>
            <a:chExt cx="3931920" cy="640080"/>
          </a:xfrm>
        </p:grpSpPr>
        <p:sp>
          <p:nvSpPr>
            <p:cNvPr id="9" name="Ikon GiWheat"/>
            <p:cNvSpPr/>
            <p:nvPr/>
          </p:nvSpPr>
          <p:spPr>
            <a:xfrm>
              <a:off x="457200" y="3840480"/>
              <a:ext cx="640080" cy="640080"/>
            </a:xfrm>
            <a:prstGeom prst="ellipse">
              <a:avLst/>
            </a:prstGeom>
            <a:solidFill>
              <a:srgbClr val="E3F2FD"/>
            </a:solidFill>
            <a:ln w="12700">
              <a:solidFill>
                <a:srgbClr val="A5D6A7"/>
              </a:solidFill>
              <a:prstDash val="solid"/>
            </a:ln>
          </p:spPr>
        </p:sp>
        <p:pic>
          <p:nvPicPr>
            <p:cNvPr id="10" name="Image 3" descr="Wheat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8018" y="3981298"/>
              <a:ext cx="358445" cy="358445"/>
            </a:xfrm>
            <a:prstGeom prst="rect">
              <a:avLst/>
            </a:prstGeom>
          </p:spPr>
        </p:pic>
        <p:sp>
          <p:nvSpPr>
            <p:cNvPr id="11" name="Ikon GiCorn"/>
            <p:cNvSpPr/>
            <p:nvPr/>
          </p:nvSpPr>
          <p:spPr>
            <a:xfrm>
              <a:off x="1280160" y="3840480"/>
              <a:ext cx="640080" cy="640080"/>
            </a:xfrm>
            <a:prstGeom prst="ellipse">
              <a:avLst/>
            </a:prstGeom>
            <a:solidFill>
              <a:srgbClr val="E3F2FD"/>
            </a:solidFill>
            <a:ln w="12700">
              <a:solidFill>
                <a:srgbClr val="A5D6A7"/>
              </a:solidFill>
              <a:prstDash val="solid"/>
            </a:ln>
          </p:spPr>
        </p:sp>
        <p:pic>
          <p:nvPicPr>
            <p:cNvPr id="12" name="Image 4" descr="Corn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20978" y="3981298"/>
              <a:ext cx="358445" cy="358445"/>
            </a:xfrm>
            <a:prstGeom prst="rect">
              <a:avLst/>
            </a:prstGeom>
          </p:spPr>
        </p:pic>
        <p:sp>
          <p:nvSpPr>
            <p:cNvPr id="13" name="Ikon GiBanana"/>
            <p:cNvSpPr/>
            <p:nvPr/>
          </p:nvSpPr>
          <p:spPr>
            <a:xfrm>
              <a:off x="2103120" y="3840480"/>
              <a:ext cx="640080" cy="640080"/>
            </a:xfrm>
            <a:prstGeom prst="ellipse">
              <a:avLst/>
            </a:prstGeom>
            <a:solidFill>
              <a:srgbClr val="E3F2FD"/>
            </a:solidFill>
            <a:ln w="12700">
              <a:solidFill>
                <a:srgbClr val="A5D6A7"/>
              </a:solidFill>
              <a:prstDash val="solid"/>
            </a:ln>
          </p:spPr>
        </p:sp>
        <p:pic>
          <p:nvPicPr>
            <p:cNvPr id="14" name="Image 5" descr="Banana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43938" y="3981298"/>
              <a:ext cx="358445" cy="358445"/>
            </a:xfrm>
            <a:prstGeom prst="rect">
              <a:avLst/>
            </a:prstGeom>
          </p:spPr>
        </p:pic>
        <p:sp>
          <p:nvSpPr>
            <p:cNvPr id="15" name="Ikon GiAppleCore"/>
            <p:cNvSpPr/>
            <p:nvPr/>
          </p:nvSpPr>
          <p:spPr>
            <a:xfrm>
              <a:off x="2926080" y="3840480"/>
              <a:ext cx="640080" cy="640080"/>
            </a:xfrm>
            <a:prstGeom prst="ellipse">
              <a:avLst/>
            </a:prstGeom>
            <a:solidFill>
              <a:srgbClr val="E3F2FD"/>
            </a:solidFill>
            <a:ln w="12700">
              <a:solidFill>
                <a:srgbClr val="A5D6A7"/>
              </a:solidFill>
              <a:prstDash val="solid"/>
            </a:ln>
          </p:spPr>
        </p:sp>
        <p:pic>
          <p:nvPicPr>
            <p:cNvPr id="16" name="Image 6" descr="AppleCore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066898" y="3981298"/>
              <a:ext cx="358445" cy="358445"/>
            </a:xfrm>
            <a:prstGeom prst="rect">
              <a:avLst/>
            </a:prstGeom>
          </p:spPr>
        </p:pic>
        <p:sp>
          <p:nvSpPr>
            <p:cNvPr id="17" name="Ikon GiGrapes"/>
            <p:cNvSpPr/>
            <p:nvPr/>
          </p:nvSpPr>
          <p:spPr>
            <a:xfrm>
              <a:off x="3749040" y="3840480"/>
              <a:ext cx="640080" cy="640080"/>
            </a:xfrm>
            <a:prstGeom prst="ellipse">
              <a:avLst/>
            </a:prstGeom>
            <a:solidFill>
              <a:srgbClr val="E3F2FD"/>
            </a:solidFill>
            <a:ln w="12700">
              <a:solidFill>
                <a:srgbClr val="A5D6A7"/>
              </a:solidFill>
              <a:prstDash val="solid"/>
            </a:ln>
          </p:spPr>
        </p:sp>
        <p:pic>
          <p:nvPicPr>
            <p:cNvPr id="18" name="Image 7" descr="Grapes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889858" y="3981298"/>
              <a:ext cx="358445" cy="358445"/>
            </a:xfrm>
            <a:prstGeom prst="rect">
              <a:avLst/>
            </a:prstGeom>
          </p:spPr>
        </p:pic>
      </p:grpSp>
      <p:sp>
        <p:nvSpPr>
          <p:cNvPr id="19" name="Text 9"/>
          <p:cNvSpPr txBox="1"/>
          <p:nvPr/>
        </p:nvSpPr>
        <p:spPr>
          <a:xfrm>
            <a:off x="658536" y="1161398"/>
            <a:ext cx="349582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A2B3C"/>
                </a:solidFill>
              </a:rPr>
              <a:t>Banyak petani memilih tanaman berdasarkan kebiasaan atau mengikuti petani lain, bukan analisis kondisi lahan.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A2B3C"/>
                </a:solidFill>
              </a:rPr>
              <a:t>Akibatnya hasil panen rendah, pupuk boros, biaya naik, dan risiko gagal panen meningkat.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20" name="Faktor 1"/>
          <p:cNvSpPr/>
          <p:nvPr/>
        </p:nvSpPr>
        <p:spPr>
          <a:xfrm>
            <a:off x="4663440" y="1280160"/>
            <a:ext cx="1920240" cy="1600200"/>
          </a:xfrm>
          <a:prstGeom prst="roundRect">
            <a:avLst>
              <a:gd name="adj" fmla="val 857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1"/>
          <p:cNvSpPr txBox="1"/>
          <p:nvPr/>
        </p:nvSpPr>
        <p:spPr>
          <a:xfrm>
            <a:off x="4800600" y="141732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Unsur Hara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Nitrogen (N), Fosfor (P), Kalium (K)</a:t>
            </a:r>
            <a:endParaRPr lang="en-US" sz="1600" dirty="0"/>
          </a:p>
        </p:txBody>
      </p:sp>
      <p:sp>
        <p:nvSpPr>
          <p:cNvPr id="22" name="Faktor 2"/>
          <p:cNvSpPr/>
          <p:nvPr/>
        </p:nvSpPr>
        <p:spPr>
          <a:xfrm>
            <a:off x="6766560" y="1280160"/>
            <a:ext cx="1920240" cy="1600200"/>
          </a:xfrm>
          <a:prstGeom prst="roundRect">
            <a:avLst>
              <a:gd name="adj" fmla="val 8571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3" name="Text 13"/>
          <p:cNvSpPr txBox="1"/>
          <p:nvPr/>
        </p:nvSpPr>
        <p:spPr>
          <a:xfrm>
            <a:off x="6903720" y="141732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Keasaman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pH tanah yang sesuai tiap tanaman</a:t>
            </a:r>
            <a:endParaRPr lang="en-US" sz="1600" dirty="0"/>
          </a:p>
        </p:txBody>
      </p:sp>
      <p:sp>
        <p:nvSpPr>
          <p:cNvPr id="24" name="Faktor 3"/>
          <p:cNvSpPr/>
          <p:nvPr/>
        </p:nvSpPr>
        <p:spPr>
          <a:xfrm>
            <a:off x="4663440" y="3063240"/>
            <a:ext cx="1920240" cy="1600200"/>
          </a:xfrm>
          <a:prstGeom prst="roundRect">
            <a:avLst>
              <a:gd name="adj" fmla="val 8571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5" name="Text 15"/>
          <p:cNvSpPr txBox="1"/>
          <p:nvPr/>
        </p:nvSpPr>
        <p:spPr>
          <a:xfrm>
            <a:off x="4800600" y="320040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Iklim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Suhu, kelembapan, curah hujan</a:t>
            </a:r>
            <a:endParaRPr lang="en-US" sz="1600" dirty="0"/>
          </a:p>
        </p:txBody>
      </p:sp>
      <p:sp>
        <p:nvSpPr>
          <p:cNvPr id="26" name="Faktor 4"/>
          <p:cNvSpPr/>
          <p:nvPr/>
        </p:nvSpPr>
        <p:spPr>
          <a:xfrm>
            <a:off x="6766560" y="3063240"/>
            <a:ext cx="1920240" cy="1600200"/>
          </a:xfrm>
          <a:prstGeom prst="roundRect">
            <a:avLst>
              <a:gd name="adj" fmla="val 857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6903720" y="320040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Dampak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Produktivitas dan pendapatan petani kecil</a:t>
            </a:r>
            <a:endParaRPr lang="en-US" sz="16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7D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3E05DD1-E09C-9A88-98B1-667769DC668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536" y="2061295"/>
            <a:ext cx="3495822" cy="200389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1D95660-99FB-30F0-5DDF-817299F8E504}"/>
              </a:ext>
            </a:extLst>
          </p:cNvPr>
          <p:cNvSpPr txBox="1"/>
          <p:nvPr/>
        </p:nvSpPr>
        <p:spPr>
          <a:xfrm>
            <a:off x="4617742" y="773222"/>
            <a:ext cx="32311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 err="1">
                <a:solidFill>
                  <a:srgbClr val="1565C0"/>
                </a:solidFill>
              </a:rPr>
              <a:t>Klasifikasi</a:t>
            </a:r>
            <a:r>
              <a:rPr lang="en-US" sz="1050" b="1" dirty="0">
                <a:solidFill>
                  <a:srgbClr val="1565C0"/>
                </a:solidFill>
              </a:rPr>
              <a:t> Machine Learning </a:t>
            </a:r>
            <a:r>
              <a:rPr lang="en-US" sz="1050" b="1" dirty="0" err="1">
                <a:solidFill>
                  <a:srgbClr val="1565C0"/>
                </a:solidFill>
              </a:rPr>
              <a:t>memberi</a:t>
            </a:r>
            <a:r>
              <a:rPr lang="en-US" sz="1050" b="1" dirty="0">
                <a:solidFill>
                  <a:srgbClr val="1565C0"/>
                </a:solidFill>
              </a:rPr>
              <a:t> </a:t>
            </a:r>
            <a:r>
              <a:rPr lang="en-US" sz="1050" b="1" dirty="0" err="1">
                <a:solidFill>
                  <a:srgbClr val="1565C0"/>
                </a:solidFill>
              </a:rPr>
              <a:t>rekomendasi</a:t>
            </a:r>
            <a:r>
              <a:rPr lang="en-US" sz="1050" b="1" dirty="0">
                <a:solidFill>
                  <a:srgbClr val="1565C0"/>
                </a:solidFill>
              </a:rPr>
              <a:t> </a:t>
            </a:r>
            <a:r>
              <a:rPr lang="en-US" sz="1050" b="1" dirty="0" err="1">
                <a:solidFill>
                  <a:srgbClr val="1565C0"/>
                </a:solidFill>
              </a:rPr>
              <a:t>berbasis</a:t>
            </a:r>
            <a:r>
              <a:rPr lang="en-US" sz="1050" b="1" dirty="0">
                <a:solidFill>
                  <a:srgbClr val="1565C0"/>
                </a:solidFill>
              </a:rPr>
              <a:t> data </a:t>
            </a:r>
            <a:r>
              <a:rPr lang="en-US" sz="1050" b="1" dirty="0" err="1">
                <a:solidFill>
                  <a:srgbClr val="1565C0"/>
                </a:solidFill>
              </a:rPr>
              <a:t>untuk</a:t>
            </a:r>
            <a:r>
              <a:rPr lang="en-US" sz="1050" b="1" dirty="0">
                <a:solidFill>
                  <a:srgbClr val="1565C0"/>
                </a:solidFill>
              </a:rPr>
              <a:t> </a:t>
            </a:r>
            <a:r>
              <a:rPr lang="en-US" sz="1050" b="1" dirty="0" err="1">
                <a:solidFill>
                  <a:srgbClr val="1565C0"/>
                </a:solidFill>
              </a:rPr>
              <a:t>mendukung</a:t>
            </a:r>
            <a:r>
              <a:rPr lang="en-US" sz="1050" b="1" dirty="0">
                <a:solidFill>
                  <a:srgbClr val="1565C0"/>
                </a:solidFill>
              </a:rPr>
              <a:t> SDGs 2.3 dan 2.4.</a:t>
            </a:r>
            <a:endParaRPr lang="en-ID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47A1"/>
                </a:solidFill>
              </a:rPr>
              <a:t>Dataset</a:t>
            </a:r>
            <a:endParaRPr lang="en-US" sz="3600" dirty="0"/>
          </a:p>
        </p:txBody>
      </p:sp>
      <p:sp>
        <p:nvSpPr>
          <p:cNvPr id="3" name="Ikon GiWheat"/>
          <p:cNvSpPr/>
          <p:nvPr/>
        </p:nvSpPr>
        <p:spPr>
          <a:xfrm>
            <a:off x="6345936" y="429768"/>
            <a:ext cx="502920" cy="5029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4" name="Image 0" descr="Whea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578" y="540410"/>
            <a:ext cx="281635" cy="281635"/>
          </a:xfrm>
          <a:prstGeom prst="rect">
            <a:avLst/>
          </a:prstGeom>
        </p:spPr>
      </p:pic>
      <p:sp>
        <p:nvSpPr>
          <p:cNvPr id="5" name="Ikon GiCorn"/>
          <p:cNvSpPr/>
          <p:nvPr/>
        </p:nvSpPr>
        <p:spPr>
          <a:xfrm>
            <a:off x="6958584" y="429768"/>
            <a:ext cx="502920" cy="5029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6" name="Image 1" descr="Cor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9226" y="540410"/>
            <a:ext cx="281635" cy="281635"/>
          </a:xfrm>
          <a:prstGeom prst="rect">
            <a:avLst/>
          </a:prstGeom>
        </p:spPr>
      </p:pic>
      <p:sp>
        <p:nvSpPr>
          <p:cNvPr id="7" name="Ikon GiBanana"/>
          <p:cNvSpPr/>
          <p:nvPr/>
        </p:nvSpPr>
        <p:spPr>
          <a:xfrm>
            <a:off x="7571232" y="429768"/>
            <a:ext cx="502920" cy="5029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8" name="Image 2" descr="Banan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1874" y="540410"/>
            <a:ext cx="281635" cy="281635"/>
          </a:xfrm>
          <a:prstGeom prst="rect">
            <a:avLst/>
          </a:prstGeom>
        </p:spPr>
      </p:pic>
      <p:sp>
        <p:nvSpPr>
          <p:cNvPr id="9" name="Ikon GiCoconuts"/>
          <p:cNvSpPr/>
          <p:nvPr/>
        </p:nvSpPr>
        <p:spPr>
          <a:xfrm>
            <a:off x="8183880" y="429768"/>
            <a:ext cx="502920" cy="5029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10" name="Image 3" descr="Coconut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4522" y="540410"/>
            <a:ext cx="281635" cy="281635"/>
          </a:xfrm>
          <a:prstGeom prst="rect">
            <a:avLst/>
          </a:prstGeom>
        </p:spPr>
      </p:pic>
      <p:sp>
        <p:nvSpPr>
          <p:cNvPr id="11" name="Stat 1"/>
          <p:cNvSpPr/>
          <p:nvPr/>
        </p:nvSpPr>
        <p:spPr>
          <a:xfrm>
            <a:off x="548640" y="1371600"/>
            <a:ext cx="1874520" cy="1554480"/>
          </a:xfrm>
          <a:prstGeom prst="roundRect">
            <a:avLst>
              <a:gd name="adj" fmla="val 882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685800" y="150876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400</a:t>
            </a:r>
            <a:endParaRPr lang="en-US" sz="4000" dirty="0"/>
          </a:p>
          <a:p>
            <a:pPr marL="0" indent="0">
              <a:buNone/>
            </a:pPr>
            <a:r>
              <a:rPr lang="en-US" sz="1400" dirty="0">
                <a:solidFill>
                  <a:srgbClr val="E3F2FD"/>
                </a:solidFill>
              </a:rPr>
              <a:t>baris data</a:t>
            </a:r>
            <a:endParaRPr lang="en-US" sz="4000" dirty="0"/>
          </a:p>
        </p:txBody>
      </p:sp>
      <p:sp>
        <p:nvSpPr>
          <p:cNvPr id="13" name="Stat 2"/>
          <p:cNvSpPr/>
          <p:nvPr/>
        </p:nvSpPr>
        <p:spPr>
          <a:xfrm>
            <a:off x="2606040" y="1371600"/>
            <a:ext cx="1874520" cy="1554480"/>
          </a:xfrm>
          <a:prstGeom prst="roundRect">
            <a:avLst>
              <a:gd name="adj" fmla="val 8824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2743200" y="150876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7</a:t>
            </a:r>
            <a:endParaRPr lang="en-US" sz="4000" dirty="0"/>
          </a:p>
          <a:p>
            <a:pPr marL="0" indent="0">
              <a:buNone/>
            </a:pPr>
            <a:r>
              <a:rPr lang="en-US" sz="1400" dirty="0">
                <a:solidFill>
                  <a:srgbClr val="E3F2FD"/>
                </a:solidFill>
              </a:rPr>
              <a:t>fitur input</a:t>
            </a:r>
            <a:endParaRPr lang="en-US" sz="4000" dirty="0"/>
          </a:p>
        </p:txBody>
      </p:sp>
      <p:sp>
        <p:nvSpPr>
          <p:cNvPr id="15" name="Stat 3"/>
          <p:cNvSpPr/>
          <p:nvPr/>
        </p:nvSpPr>
        <p:spPr>
          <a:xfrm>
            <a:off x="4663440" y="1371600"/>
            <a:ext cx="1874520" cy="1554480"/>
          </a:xfrm>
          <a:prstGeom prst="roundRect">
            <a:avLst>
              <a:gd name="adj" fmla="val 882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4800600" y="150876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4</a:t>
            </a:r>
            <a:endParaRPr lang="en-US" sz="4000" dirty="0"/>
          </a:p>
          <a:p>
            <a:pPr marL="0" indent="0">
              <a:buNone/>
            </a:pPr>
            <a:r>
              <a:rPr lang="en-US" sz="1400" dirty="0">
                <a:solidFill>
                  <a:srgbClr val="E3F2FD"/>
                </a:solidFill>
              </a:rPr>
              <a:t>jenis tanaman</a:t>
            </a:r>
            <a:endParaRPr lang="en-US" sz="4000" dirty="0"/>
          </a:p>
        </p:txBody>
      </p:sp>
      <p:sp>
        <p:nvSpPr>
          <p:cNvPr id="17" name="Stat 4"/>
          <p:cNvSpPr/>
          <p:nvPr/>
        </p:nvSpPr>
        <p:spPr>
          <a:xfrm>
            <a:off x="6720840" y="1371600"/>
            <a:ext cx="1874520" cy="1554480"/>
          </a:xfrm>
          <a:prstGeom prst="roundRect">
            <a:avLst>
              <a:gd name="adj" fmla="val 8824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6858000" y="150876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0</a:t>
            </a:r>
            <a:endParaRPr lang="en-US" sz="4000" dirty="0"/>
          </a:p>
          <a:p>
            <a:pPr marL="0" indent="0">
              <a:buNone/>
            </a:pPr>
            <a:r>
              <a:rPr lang="en-US" sz="1400" dirty="0">
                <a:solidFill>
                  <a:srgbClr val="E3F2FD"/>
                </a:solidFill>
              </a:rPr>
              <a:t>missing &amp; duplikat</a:t>
            </a:r>
            <a:endParaRPr lang="en-US" sz="4000" dirty="0"/>
          </a:p>
        </p:txBody>
      </p:sp>
      <p:sp>
        <p:nvSpPr>
          <p:cNvPr id="19" name="Info Dataset"/>
          <p:cNvSpPr/>
          <p:nvPr/>
        </p:nvSpPr>
        <p:spPr>
          <a:xfrm>
            <a:off x="548640" y="3200400"/>
            <a:ext cx="8046720" cy="1325880"/>
          </a:xfrm>
          <a:prstGeom prst="roundRect">
            <a:avLst>
              <a:gd name="adj" fmla="val 10345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777240" y="338328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</a:rPr>
              <a:t>Fitur: </a:t>
            </a:r>
            <a:r>
              <a:rPr lang="en-US" sz="1400" dirty="0">
                <a:solidFill>
                  <a:srgbClr val="1A2B3C"/>
                </a:solidFill>
              </a:rPr>
              <a:t>N, P, K, temperature, humidity, ph, rainfall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</a:rPr>
              <a:t>Target: </a:t>
            </a:r>
            <a:r>
              <a:rPr lang="en-US" sz="1400" dirty="0">
                <a:solidFill>
                  <a:srgbClr val="1A2B3C"/>
                </a:solidFill>
              </a:rPr>
              <a:t>label (4 jenis tanaman: rice, maize, chickpea, kidneybeans)</a:t>
            </a:r>
            <a:endParaRPr lang="en-US" sz="1400" dirty="0"/>
          </a:p>
          <a:p>
            <a:r>
              <a:rPr lang="en-US" sz="1400" b="1" dirty="0">
                <a:solidFill>
                  <a:srgbClr val="0D47A1"/>
                </a:solidFill>
              </a:rPr>
              <a:t>Sumber: </a:t>
            </a:r>
            <a:r>
              <a:rPr lang="en-US" sz="1400" dirty="0">
                <a:solidFill>
                  <a:srgbClr val="1A2B3C"/>
                </a:solidFill>
              </a:rPr>
              <a:t>Crop Recommendation Dataset, Kaggle (Atharva Ingle), disederhanakan menjadi 4 </a:t>
            </a:r>
            <a:r>
              <a:rPr lang="en-US" sz="1400" dirty="0" err="1">
                <a:solidFill>
                  <a:srgbClr val="1A2B3C"/>
                </a:solidFill>
              </a:rPr>
              <a:t>kelas</a:t>
            </a:r>
            <a:br>
              <a:rPr lang="en-US" sz="1400" dirty="0">
                <a:solidFill>
                  <a:srgbClr val="1A2B3C"/>
                </a:solidFill>
              </a:rPr>
            </a:br>
            <a:r>
              <a:rPr lang="en-US" sz="1400" dirty="0">
                <a:solidFill>
                  <a:srgbClr val="1A2B3C"/>
                </a:solidFill>
              </a:rPr>
              <a:t>                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https://www.kaggle.com/datasets/atharvaingle/crop-recommendation-dataset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7D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47A1"/>
                </a:solidFill>
              </a:rPr>
              <a:t>Tampilan Data Mentah</a:t>
            </a:r>
            <a:endParaRPr lang="en-US" sz="3600" dirty="0"/>
          </a:p>
        </p:txBody>
      </p:sp>
      <p:sp>
        <p:nvSpPr>
          <p:cNvPr id="3" name="Ikon FaChartColumn"/>
          <p:cNvSpPr/>
          <p:nvPr/>
        </p:nvSpPr>
        <p:spPr>
          <a:xfrm>
            <a:off x="7571232" y="429768"/>
            <a:ext cx="502920" cy="5029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4" name="Image 0" descr="ChartColum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874" y="540410"/>
            <a:ext cx="281635" cy="281635"/>
          </a:xfrm>
          <a:prstGeom prst="rect">
            <a:avLst/>
          </a:prstGeom>
        </p:spPr>
      </p:pic>
      <p:sp>
        <p:nvSpPr>
          <p:cNvPr id="5" name="Ikon FaLeaf"/>
          <p:cNvSpPr/>
          <p:nvPr/>
        </p:nvSpPr>
        <p:spPr>
          <a:xfrm>
            <a:off x="8183880" y="429768"/>
            <a:ext cx="502920" cy="5029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6" name="Image 1" descr="Lea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4522" y="540410"/>
            <a:ext cx="281635" cy="281635"/>
          </a:xfrm>
          <a:prstGeom prst="rect">
            <a:avLst/>
          </a:prstGeom>
        </p:spPr>
      </p:pic>
      <p:graphicFrame>
        <p:nvGraphicFramePr>
          <p:cNvPr id="7" name="Tabel Data Mentah"/>
          <p:cNvGraphicFramePr>
            <a:graphicFrameLocks noGrp="1"/>
          </p:cNvGraphicFramePr>
          <p:nvPr/>
        </p:nvGraphicFramePr>
        <p:xfrm>
          <a:off x="457200" y="1280160"/>
          <a:ext cx="8229600" cy="2633472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id-ID" sz="1200" b="1" dirty="0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b="1" dirty="0">
                          <a:solidFill>
                            <a:srgbClr val="FFFFFF"/>
                          </a:solidFill>
                        </a:rPr>
                        <a:t>P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b="1" dirty="0">
                          <a:solidFill>
                            <a:srgbClr val="FFFFFF"/>
                          </a:solidFill>
                        </a:rPr>
                        <a:t>K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b="1" dirty="0">
                          <a:solidFill>
                            <a:srgbClr val="FFFFFF"/>
                          </a:solidFill>
                        </a:rPr>
                        <a:t>temperature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b="1" dirty="0">
                          <a:solidFill>
                            <a:srgbClr val="FFFFFF"/>
                          </a:solidFill>
                        </a:rPr>
                        <a:t>humidity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b="1" dirty="0">
                          <a:solidFill>
                            <a:srgbClr val="FFFFFF"/>
                          </a:solidFill>
                        </a:rPr>
                        <a:t>ph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b="1" dirty="0">
                          <a:solidFill>
                            <a:srgbClr val="FFFFFF"/>
                          </a:solidFill>
                        </a:rPr>
                        <a:t>rainfall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b="1" dirty="0">
                          <a:solidFill>
                            <a:srgbClr val="FFFFFF"/>
                          </a:solidFill>
                        </a:rPr>
                        <a:t>label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28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74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81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18,01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18,31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8,75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81,99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b="1" dirty="0">
                          <a:solidFill>
                            <a:srgbClr val="0D47A1"/>
                          </a:solidFill>
                        </a:rPr>
                        <a:t>chickpea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54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62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80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17,49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16,39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7,49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79,46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b="1" dirty="0">
                          <a:solidFill>
                            <a:srgbClr val="0D47A1"/>
                          </a:solidFill>
                        </a:rPr>
                        <a:t>chickpea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98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53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38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20,27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81,64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5,01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270,44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b="1" dirty="0">
                          <a:solidFill>
                            <a:srgbClr val="0D47A1"/>
                          </a:solidFill>
                        </a:rPr>
                        <a:t>rice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58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66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79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20,99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19,33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8,72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93,55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b="1" dirty="0">
                          <a:solidFill>
                            <a:srgbClr val="0D47A1"/>
                          </a:solidFill>
                        </a:rPr>
                        <a:t>chickpea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78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40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38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26,46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83,86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7,55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248,23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b="1" dirty="0">
                          <a:solidFill>
                            <a:srgbClr val="0D47A1"/>
                          </a:solidFill>
                        </a:rPr>
                        <a:t>rice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67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58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39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25,28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80,54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5,45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220,12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b="1" dirty="0">
                          <a:solidFill>
                            <a:srgbClr val="0D47A1"/>
                          </a:solidFill>
                        </a:rPr>
                        <a:t>rice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16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75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21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18,51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23,62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5,68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87,05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b="1" dirty="0">
                          <a:solidFill>
                            <a:srgbClr val="0D47A1"/>
                          </a:solidFill>
                        </a:rPr>
                        <a:t>kidneybeans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60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51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36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22,70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82,81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6,03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solidFill>
                            <a:srgbClr val="263238"/>
                          </a:solidFill>
                        </a:rPr>
                        <a:t>257,00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b="1" dirty="0">
                          <a:solidFill>
                            <a:srgbClr val="0D47A1"/>
                          </a:solidFill>
                        </a:rPr>
                        <a:t>rice</a:t>
                      </a:r>
                    </a:p>
                  </a:txBody>
                  <a:tcPr marL="45720" marR="45720" marT="22860" marB="2286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Panel 8"/>
          <p:cNvSpPr/>
          <p:nvPr/>
        </p:nvSpPr>
        <p:spPr>
          <a:xfrm>
            <a:off x="457200" y="4050792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621792" y="4142232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id-ID" sz="1400" b="1" dirty="0">
                <a:solidFill>
                  <a:srgbClr val="0D47A1"/>
                </a:solidFill>
              </a:rPr>
              <a:t>Menampilkan 8 dari 400 baris pertama (df.head())</a:t>
            </a:r>
          </a:p>
          <a:p>
            <a:pPr marL="0" indent="0">
              <a:buNone/>
            </a:pPr>
            <a:r>
              <a:rPr lang="id-ID" sz="1400" dirty="0">
                <a:solidFill>
                  <a:srgbClr val="263238"/>
                </a:solidFill>
              </a:rPr>
              <a:t>7 kolom fitur numerik + 1 kolom label tanaman (kategorikal)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7D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47A1"/>
                </a:solidFill>
              </a:rPr>
              <a:t>Eksplorasi Data</a:t>
            </a:r>
            <a:endParaRPr lang="en-US" sz="3600" dirty="0"/>
          </a:p>
        </p:txBody>
      </p:sp>
      <p:sp>
        <p:nvSpPr>
          <p:cNvPr id="3" name="Ikon FaChartColumn"/>
          <p:cNvSpPr/>
          <p:nvPr/>
        </p:nvSpPr>
        <p:spPr>
          <a:xfrm>
            <a:off x="7571232" y="429768"/>
            <a:ext cx="502920" cy="5029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4" name="Image 0" descr="ChartColum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874" y="540410"/>
            <a:ext cx="281635" cy="281635"/>
          </a:xfrm>
          <a:prstGeom prst="rect">
            <a:avLst/>
          </a:prstGeom>
        </p:spPr>
      </p:pic>
      <p:sp>
        <p:nvSpPr>
          <p:cNvPr id="5" name="Ikon FaLeaf"/>
          <p:cNvSpPr/>
          <p:nvPr/>
        </p:nvSpPr>
        <p:spPr>
          <a:xfrm>
            <a:off x="8183880" y="429768"/>
            <a:ext cx="502920" cy="5029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6" name="Image 1" descr="Lea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4522" y="540410"/>
            <a:ext cx="281635" cy="281635"/>
          </a:xfrm>
          <a:prstGeom prst="rect">
            <a:avLst/>
          </a:prstGeom>
        </p:spPr>
      </p:pic>
      <p:sp>
        <p:nvSpPr>
          <p:cNvPr id="8" name="Insight 1"/>
          <p:cNvSpPr/>
          <p:nvPr/>
        </p:nvSpPr>
        <p:spPr>
          <a:xfrm>
            <a:off x="5303520" y="1280160"/>
            <a:ext cx="3383280" cy="960120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5468112" y="13898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100 sampel per tanaman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4 kelas seimbang, tanpa duplikat</a:t>
            </a:r>
            <a:endParaRPr lang="en-US" sz="1600" dirty="0"/>
          </a:p>
        </p:txBody>
      </p:sp>
      <p:sp>
        <p:nvSpPr>
          <p:cNvPr id="10" name="Insight 2"/>
          <p:cNvSpPr/>
          <p:nvPr/>
        </p:nvSpPr>
        <p:spPr>
          <a:xfrm>
            <a:off x="5303520" y="2377440"/>
            <a:ext cx="3383280" cy="960120"/>
          </a:xfrm>
          <a:prstGeom prst="roundRect">
            <a:avLst>
              <a:gd name="adj" fmla="val 14286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5468112" y="248716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Rentang hara beragam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N 0–100, P 35–80, K 15–85</a:t>
            </a:r>
            <a:endParaRPr lang="en-US" sz="1600" dirty="0"/>
          </a:p>
        </p:txBody>
      </p:sp>
      <p:sp>
        <p:nvSpPr>
          <p:cNvPr id="12" name="Insight 3"/>
          <p:cNvSpPr/>
          <p:nvPr/>
        </p:nvSpPr>
        <p:spPr>
          <a:xfrm>
            <a:off x="5303520" y="3474720"/>
            <a:ext cx="3383280" cy="960120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468112" y="35844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Iklim bervariasi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Suhu rata-rata 21,3 °C, hujan 127 mm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7D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CC178E4-103F-E0DC-BD1C-F87CE55FD8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36" y="1406790"/>
            <a:ext cx="2764301" cy="145071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D0FB358-25C9-A3ED-CEA4-17C1F43E797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986"/>
          <a:stretch>
            <a:fillRect/>
          </a:stretch>
        </p:blipFill>
        <p:spPr>
          <a:xfrm>
            <a:off x="2812118" y="1373571"/>
            <a:ext cx="2404194" cy="15796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E68A4E5-03AC-5558-8AE0-205F9BAF6C2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707" t="2637" r="1707"/>
          <a:stretch>
            <a:fillRect/>
          </a:stretch>
        </p:blipFill>
        <p:spPr>
          <a:xfrm>
            <a:off x="69636" y="2937382"/>
            <a:ext cx="2764301" cy="156888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9CD3BA3-3188-18D8-BE8C-08D0A0AC43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876" y="2937382"/>
            <a:ext cx="2540678" cy="1619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47A1"/>
                </a:solidFill>
              </a:rPr>
              <a:t>Korelasi Antar Fitur</a:t>
            </a:r>
            <a:endParaRPr lang="en-US" sz="3600" dirty="0"/>
          </a:p>
        </p:txBody>
      </p:sp>
      <p:sp>
        <p:nvSpPr>
          <p:cNvPr id="3" name="Ikon FaChartColumn"/>
          <p:cNvSpPr/>
          <p:nvPr/>
        </p:nvSpPr>
        <p:spPr>
          <a:xfrm>
            <a:off x="7571232" y="429768"/>
            <a:ext cx="502920" cy="5029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4" name="Image 0" descr="ChartColum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874" y="540410"/>
            <a:ext cx="281635" cy="281635"/>
          </a:xfrm>
          <a:prstGeom prst="rect">
            <a:avLst/>
          </a:prstGeom>
        </p:spPr>
      </p:pic>
      <p:sp>
        <p:nvSpPr>
          <p:cNvPr id="5" name="Ikon FaLeaf"/>
          <p:cNvSpPr/>
          <p:nvPr/>
        </p:nvSpPr>
        <p:spPr>
          <a:xfrm>
            <a:off x="8183880" y="429768"/>
            <a:ext cx="502920" cy="5029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6" name="Image 1" descr="Lea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4522" y="540410"/>
            <a:ext cx="281635" cy="281635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457200" y="4247388"/>
            <a:ext cx="485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id-ID" sz="1000" dirty="0">
                <a:solidFill>
                  <a:srgbClr val="607D8B"/>
                </a:solidFill>
              </a:rPr>
              <a:t>Lembap = kelembapan, Hujan = curah hujan  |  merah = positif, biru = negatif</a:t>
            </a:r>
          </a:p>
        </p:txBody>
      </p:sp>
      <p:sp>
        <p:nvSpPr>
          <p:cNvPr id="9" name="Insight 9"/>
          <p:cNvSpPr/>
          <p:nvPr/>
        </p:nvSpPr>
        <p:spPr>
          <a:xfrm>
            <a:off x="5544480" y="1280160"/>
            <a:ext cx="3142320" cy="960120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 w="12700">
            <a:solidFill>
              <a:srgbClr val="1565C0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5709072" y="1389888"/>
            <a:ext cx="28131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id-ID" sz="1600" b="1" dirty="0">
                <a:solidFill>
                  <a:srgbClr val="FFFFFF"/>
                </a:solidFill>
              </a:rPr>
              <a:t>N dan Lembap berkorelasi kuat</a:t>
            </a:r>
          </a:p>
          <a:p>
            <a:pPr marL="0" indent="0">
              <a:buNone/>
            </a:pPr>
            <a:r>
              <a:rPr lang="id-ID" sz="1400" dirty="0">
                <a:solidFill>
                  <a:srgbClr val="FFFFFF"/>
                </a:solidFill>
              </a:rPr>
              <a:t>r = 0,84, pasangan terkuat</a:t>
            </a:r>
          </a:p>
        </p:txBody>
      </p:sp>
      <p:sp>
        <p:nvSpPr>
          <p:cNvPr id="11" name="Insight 11"/>
          <p:cNvSpPr/>
          <p:nvPr/>
        </p:nvSpPr>
        <p:spPr>
          <a:xfrm>
            <a:off x="5544480" y="2377440"/>
            <a:ext cx="3142320" cy="960120"/>
          </a:xfrm>
          <a:prstGeom prst="roundRect">
            <a:avLst>
              <a:gd name="adj" fmla="val 14286"/>
            </a:avLst>
          </a:prstGeom>
          <a:solidFill>
            <a:srgbClr val="1976D2"/>
          </a:solidFill>
          <a:ln w="12700">
            <a:solidFill>
              <a:srgbClr val="1976D2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5709072" y="2487168"/>
            <a:ext cx="28131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id-ID" sz="1600" b="1" dirty="0">
                <a:solidFill>
                  <a:srgbClr val="FFFFFF"/>
                </a:solidFill>
              </a:rPr>
              <a:t>Ada korelasi negatif kuat</a:t>
            </a:r>
          </a:p>
          <a:p>
            <a:pPr marL="0" indent="0">
              <a:buNone/>
            </a:pPr>
            <a:r>
              <a:rPr lang="id-ID" sz="1400" dirty="0">
                <a:solidFill>
                  <a:srgbClr val="FFFFFF"/>
                </a:solidFill>
              </a:rPr>
              <a:t>P–Lembap -0,77 dan N–P -0,70</a:t>
            </a:r>
          </a:p>
        </p:txBody>
      </p:sp>
      <p:sp>
        <p:nvSpPr>
          <p:cNvPr id="13" name="Insight 13"/>
          <p:cNvSpPr/>
          <p:nvPr/>
        </p:nvSpPr>
        <p:spPr>
          <a:xfrm>
            <a:off x="5544480" y="3474720"/>
            <a:ext cx="3142320" cy="960120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 w="12700">
            <a:solidFill>
              <a:srgbClr val="1565C0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5709072" y="3584448"/>
            <a:ext cx="28131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id-ID" sz="1600" b="1" dirty="0">
                <a:solidFill>
                  <a:srgbClr val="FFFFFF"/>
                </a:solidFill>
              </a:rPr>
              <a:t>Semua fitur dipakai</a:t>
            </a:r>
          </a:p>
          <a:p>
            <a:pPr marL="0" indent="0">
              <a:buNone/>
            </a:pPr>
            <a:r>
              <a:rPr lang="id-ID" sz="1400" dirty="0">
                <a:solidFill>
                  <a:srgbClr val="FFFFFF"/>
                </a:solidFill>
              </a:rPr>
              <a:t>Model akhir tetap memakai 7 fitur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7D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41B205A-3E3C-89FA-531F-C903722553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952" y="1085729"/>
            <a:ext cx="3459708" cy="30473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ubungan Fitur dan L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47A1"/>
                </a:solidFill>
              </a:rPr>
              <a:t>Hubungan Fitur dan Label</a:t>
            </a:r>
            <a:endParaRPr lang="en-US" sz="3600" dirty="0"/>
          </a:p>
        </p:txBody>
      </p:sp>
      <p:sp>
        <p:nvSpPr>
          <p:cNvPr id="3" name="Ikon FaChartColumn"/>
          <p:cNvSpPr/>
          <p:nvPr/>
        </p:nvSpPr>
        <p:spPr>
          <a:xfrm>
            <a:off x="8183880" y="429768"/>
            <a:ext cx="502920" cy="5029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4" name="Image 0" descr="ChartColum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4522" y="540410"/>
            <a:ext cx="281635" cy="281635"/>
          </a:xfrm>
          <a:prstGeom prst="rect">
            <a:avLst/>
          </a:prstGeom>
        </p:spPr>
      </p:pic>
      <p:sp>
        <p:nvSpPr>
          <p:cNvPr id="30" name="Kartu Semua Fitur"/>
          <p:cNvSpPr/>
          <p:nvPr/>
        </p:nvSpPr>
        <p:spPr>
          <a:xfrm>
            <a:off x="457200" y="3749040"/>
            <a:ext cx="2621280" cy="731520"/>
          </a:xfrm>
          <a:prstGeom prst="roundRect">
            <a:avLst>
              <a:gd name="adj" fmla="val 12000"/>
            </a:avLst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1" name="Teks Kartu Semua Fitur"/>
          <p:cNvSpPr txBox="1"/>
          <p:nvPr/>
        </p:nvSpPr>
        <p:spPr>
          <a:xfrm>
            <a:off x="594360" y="3840480"/>
            <a:ext cx="234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id-ID" sz="1400" b="1" dirty="0">
                <a:solidFill>
                  <a:srgbClr val="FFFFFF"/>
                </a:solidFill>
              </a:rPr>
              <a:t>Semua fitur berhubungan</a:t>
            </a:r>
          </a:p>
          <a:p>
            <a:pPr marL="0" indent="0">
              <a:buNone/>
            </a:pPr>
            <a:r>
              <a:rPr lang="id-ID" sz="1200" dirty="0">
                <a:solidFill>
                  <a:srgbClr val="E3F2FD"/>
                </a:solidFill>
              </a:rPr>
              <a:t>ANOVA p-value &lt; 0,001 untuk 7 fitur</a:t>
            </a:r>
          </a:p>
        </p:txBody>
      </p:sp>
      <p:sp>
        <p:nvSpPr>
          <p:cNvPr id="32" name="Kartu Paling Kuat"/>
          <p:cNvSpPr/>
          <p:nvPr/>
        </p:nvSpPr>
        <p:spPr>
          <a:xfrm>
            <a:off x="3261360" y="3749040"/>
            <a:ext cx="2621280" cy="731520"/>
          </a:xfrm>
          <a:prstGeom prst="roundRect">
            <a:avLst>
              <a:gd name="adj" fmla="val 12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ks Kartu Paling Kuat"/>
          <p:cNvSpPr txBox="1"/>
          <p:nvPr/>
        </p:nvSpPr>
        <p:spPr>
          <a:xfrm>
            <a:off x="3398520" y="3840480"/>
            <a:ext cx="234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id-ID" sz="1400" b="1" dirty="0">
                <a:solidFill>
                  <a:srgbClr val="FFFFFF"/>
                </a:solidFill>
              </a:rPr>
              <a:t>Paling kuat</a:t>
            </a:r>
          </a:p>
          <a:p>
            <a:pPr marL="0" indent="0">
              <a:buNone/>
            </a:pPr>
            <a:r>
              <a:rPr lang="id-ID" sz="1200" dirty="0">
                <a:solidFill>
                  <a:srgbClr val="E3F2FD"/>
                </a:solidFill>
              </a:rPr>
              <a:t>humidity (F 10.590) dan K (F 8.512)</a:t>
            </a:r>
          </a:p>
        </p:txBody>
      </p:sp>
      <p:sp>
        <p:nvSpPr>
          <p:cNvPr id="34" name="Kartu Paling Lemah"/>
          <p:cNvSpPr/>
          <p:nvPr/>
        </p:nvSpPr>
        <p:spPr>
          <a:xfrm>
            <a:off x="6065520" y="3749040"/>
            <a:ext cx="2621280" cy="731520"/>
          </a:xfrm>
          <a:prstGeom prst="roundRect">
            <a:avLst>
              <a:gd name="adj" fmla="val 12000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5" name="Teks Kartu Paling Lemah"/>
          <p:cNvSpPr txBox="1"/>
          <p:nvPr/>
        </p:nvSpPr>
        <p:spPr>
          <a:xfrm>
            <a:off x="6202680" y="3840480"/>
            <a:ext cx="234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id-ID" sz="1400" b="1" dirty="0">
                <a:solidFill>
                  <a:srgbClr val="FFFFFF"/>
                </a:solidFill>
              </a:rPr>
              <a:t>Paling lemah</a:t>
            </a:r>
          </a:p>
          <a:p>
            <a:pPr marL="0" indent="0">
              <a:buNone/>
            </a:pPr>
            <a:r>
              <a:rPr lang="id-ID" sz="1200" dirty="0">
                <a:solidFill>
                  <a:srgbClr val="E3F2FD"/>
                </a:solidFill>
              </a:rPr>
              <a:t>P, pH, temperature (F 97 sampai 215)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7D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1" name="Grafik F-statistic dan Mutual Information" descr="Bar chart ANOVA F-statistic dan Mutual Information per fitur">
            <a:extLst>
              <a:ext uri="{FF2B5EF4-FFF2-40B4-BE49-F238E27FC236}">
                <a16:creationId xmlns:a16="http://schemas.microsoft.com/office/drawing/2014/main" id="{C9EA6022-663E-1393-C087-074B3A6A7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8229600" cy="24880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itur per Jenis Tanaman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47A1"/>
                </a:solidFill>
              </a:rPr>
              <a:t>Fitur per Jenis Tanaman (1)</a:t>
            </a:r>
            <a:endParaRPr lang="en-US" sz="3600" dirty="0"/>
          </a:p>
        </p:txBody>
      </p:sp>
      <p:sp>
        <p:nvSpPr>
          <p:cNvPr id="3" name="Ikon FaChartColumn"/>
          <p:cNvSpPr/>
          <p:nvPr/>
        </p:nvSpPr>
        <p:spPr>
          <a:xfrm>
            <a:off x="8183880" y="429768"/>
            <a:ext cx="502920" cy="5029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4" name="Image 0" descr="ChartColum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4522" y="540410"/>
            <a:ext cx="281635" cy="281635"/>
          </a:xfrm>
          <a:prstGeom prst="rect">
            <a:avLst/>
          </a:prstGeom>
        </p:spPr>
      </p:pic>
      <p:sp>
        <p:nvSpPr>
          <p:cNvPr id="30" name="Kartu 1"/>
          <p:cNvSpPr/>
          <p:nvPr/>
        </p:nvSpPr>
        <p:spPr>
          <a:xfrm>
            <a:off x="457200" y="3794760"/>
            <a:ext cx="4023360" cy="822960"/>
          </a:xfrm>
          <a:prstGeom prst="roundRect">
            <a:avLst>
              <a:gd name="adj" fmla="val 10000"/>
            </a:avLst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1" name="Teks Kartu 1"/>
          <p:cNvSpPr txBox="1"/>
          <p:nvPr/>
        </p:nvSpPr>
        <p:spPr>
          <a:xfrm>
            <a:off x="594360" y="38633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id-ID" sz="1400" b="1" dirty="0">
                <a:solidFill>
                  <a:srgbClr val="FFFFFF"/>
                </a:solidFill>
              </a:rPr>
              <a:t>Hara tanah (N, P, K)</a:t>
            </a:r>
          </a:p>
          <a:p>
            <a:pPr marL="0" indent="0">
              <a:buNone/>
            </a:pPr>
            <a:r>
              <a:rPr lang="id-ID" sz="1200" dirty="0">
                <a:solidFill>
                  <a:srgbClr val="E3F2FD"/>
                </a:solidFill>
              </a:rPr>
              <a:t>N tinggi pada rice dan maize, P tinggi pada chickpea dan kidneybeans, K tertinggi pada chickpea.</a:t>
            </a:r>
          </a:p>
        </p:txBody>
      </p:sp>
      <p:sp>
        <p:nvSpPr>
          <p:cNvPr id="32" name="Kartu 2"/>
          <p:cNvSpPr/>
          <p:nvPr/>
        </p:nvSpPr>
        <p:spPr>
          <a:xfrm>
            <a:off x="4663440" y="3794760"/>
            <a:ext cx="4023360" cy="822960"/>
          </a:xfrm>
          <a:prstGeom prst="roundRect">
            <a:avLst>
              <a:gd name="adj" fmla="val 1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ks Kartu 2"/>
          <p:cNvSpPr txBox="1"/>
          <p:nvPr/>
        </p:nvSpPr>
        <p:spPr>
          <a:xfrm>
            <a:off x="4800600" y="38633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id-ID" sz="1400" b="1" dirty="0">
                <a:solidFill>
                  <a:srgbClr val="FFFFFF"/>
                </a:solidFill>
              </a:rPr>
              <a:t>temperature</a:t>
            </a:r>
          </a:p>
          <a:p>
            <a:pPr marL="0" indent="0">
              <a:buNone/>
            </a:pPr>
            <a:r>
              <a:rPr lang="id-ID" sz="1200" dirty="0">
                <a:solidFill>
                  <a:srgbClr val="E3F2FD"/>
                </a:solidFill>
              </a:rPr>
              <a:t>Banyak tumpang tindih antar tanaman (median 18,9 sampai 23,7 °C), paling lemah membedakan.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7D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11" name="Boxplot fitur berdasarkan jenis tanaman" descr="Boxplot sebaran fitur berdasarkan jenis tanaman">
            <a:extLst>
              <a:ext uri="{FF2B5EF4-FFF2-40B4-BE49-F238E27FC236}">
                <a16:creationId xmlns:a16="http://schemas.microsoft.com/office/drawing/2014/main" id="{C9EA6022-663E-1393-C087-074B3A6A7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8229600" cy="25935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itur per Jenis Tanaman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47A1"/>
                </a:solidFill>
              </a:rPr>
              <a:t>Fitur per Jenis Tanaman (2)</a:t>
            </a:r>
            <a:endParaRPr lang="en-US" sz="3600" dirty="0"/>
          </a:p>
        </p:txBody>
      </p:sp>
      <p:sp>
        <p:nvSpPr>
          <p:cNvPr id="3" name="Ikon FaChartColumn"/>
          <p:cNvSpPr/>
          <p:nvPr/>
        </p:nvSpPr>
        <p:spPr>
          <a:xfrm>
            <a:off x="8183880" y="429768"/>
            <a:ext cx="502920" cy="5029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4" name="Image 0" descr="ChartColum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4522" y="540410"/>
            <a:ext cx="281635" cy="281635"/>
          </a:xfrm>
          <a:prstGeom prst="rect">
            <a:avLst/>
          </a:prstGeom>
        </p:spPr>
      </p:pic>
      <p:sp>
        <p:nvSpPr>
          <p:cNvPr id="30" name="Kartu 1"/>
          <p:cNvSpPr/>
          <p:nvPr/>
        </p:nvSpPr>
        <p:spPr>
          <a:xfrm>
            <a:off x="457200" y="3794760"/>
            <a:ext cx="4023360" cy="822960"/>
          </a:xfrm>
          <a:prstGeom prst="roundRect">
            <a:avLst>
              <a:gd name="adj" fmla="val 10000"/>
            </a:avLst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1" name="Teks Kartu 1"/>
          <p:cNvSpPr txBox="1"/>
          <p:nvPr/>
        </p:nvSpPr>
        <p:spPr>
          <a:xfrm>
            <a:off x="594360" y="38633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id-ID" sz="1400" b="1" dirty="0">
                <a:solidFill>
                  <a:srgbClr val="FFFFFF"/>
                </a:solidFill>
              </a:rPr>
              <a:t>humidity</a:t>
            </a:r>
          </a:p>
          <a:p>
            <a:pPr marL="0" indent="0">
              <a:buNone/>
            </a:pPr>
            <a:r>
              <a:rPr lang="id-ID" sz="1200" dirty="0">
                <a:solidFill>
                  <a:srgbClr val="E3F2FD"/>
                </a:solidFill>
              </a:rPr>
              <a:t>chickpea dan kidneybeans sangat kering (median 17 dan 21%), maize 65%, rice paling lembap (82%).</a:t>
            </a:r>
          </a:p>
        </p:txBody>
      </p:sp>
      <p:sp>
        <p:nvSpPr>
          <p:cNvPr id="32" name="Kartu 2"/>
          <p:cNvSpPr/>
          <p:nvPr/>
        </p:nvSpPr>
        <p:spPr>
          <a:xfrm>
            <a:off x="4663440" y="3794760"/>
            <a:ext cx="4023360" cy="822960"/>
          </a:xfrm>
          <a:prstGeom prst="roundRect">
            <a:avLst>
              <a:gd name="adj" fmla="val 1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ks Kartu 2"/>
          <p:cNvSpPr txBox="1"/>
          <p:nvPr/>
        </p:nvSpPr>
        <p:spPr>
          <a:xfrm>
            <a:off x="4800600" y="38633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id-ID" sz="1400" b="1" dirty="0">
                <a:solidFill>
                  <a:srgbClr val="FFFFFF"/>
                </a:solidFill>
              </a:rPr>
              <a:t>rainfall dan pH</a:t>
            </a:r>
          </a:p>
          <a:p>
            <a:pPr marL="0" indent="0">
              <a:buNone/>
            </a:pPr>
            <a:r>
              <a:rPr lang="id-ID" sz="1200" dirty="0">
                <a:solidFill>
                  <a:srgbClr val="E3F2FD"/>
                </a:solidFill>
              </a:rPr>
              <a:t>rainfall rice jauh lebih tinggi (median 233 mm). pH antar tanaman banyak tumpang tindih (median 5,7 sampai 7,4).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7D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11" name="Boxplot fitur berdasarkan jenis tanaman" descr="Boxplot sebaran fitur berdasarkan jenis tanaman">
            <a:extLst>
              <a:ext uri="{FF2B5EF4-FFF2-40B4-BE49-F238E27FC236}">
                <a16:creationId xmlns:a16="http://schemas.microsoft.com/office/drawing/2014/main" id="{C9EA6022-663E-1393-C087-074B3A6A7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8229600" cy="25935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Alur Pemrosesan</a:t>
            </a:r>
            <a:endParaRPr lang="en-US" sz="3600" dirty="0"/>
          </a:p>
        </p:txBody>
      </p:sp>
      <p:sp>
        <p:nvSpPr>
          <p:cNvPr id="3" name="Ikon FaFlask"/>
          <p:cNvSpPr/>
          <p:nvPr/>
        </p:nvSpPr>
        <p:spPr>
          <a:xfrm>
            <a:off x="7571232" y="429768"/>
            <a:ext cx="502920" cy="502920"/>
          </a:xfrm>
          <a:prstGeom prst="ellipse">
            <a:avLst/>
          </a:prstGeom>
          <a:solidFill>
            <a:srgbClr val="1976D2"/>
          </a:solidFill>
          <a:ln w="12700">
            <a:solidFill>
              <a:srgbClr val="BBDEFB"/>
            </a:solidFill>
            <a:prstDash val="solid"/>
          </a:ln>
        </p:spPr>
      </p:sp>
      <p:pic>
        <p:nvPicPr>
          <p:cNvPr id="4" name="Image 0" descr="Flas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874" y="540410"/>
            <a:ext cx="281635" cy="281635"/>
          </a:xfrm>
          <a:prstGeom prst="rect">
            <a:avLst/>
          </a:prstGeom>
        </p:spPr>
      </p:pic>
      <p:sp>
        <p:nvSpPr>
          <p:cNvPr id="5" name="Ikon FaSeedling"/>
          <p:cNvSpPr/>
          <p:nvPr/>
        </p:nvSpPr>
        <p:spPr>
          <a:xfrm>
            <a:off x="8183880" y="429768"/>
            <a:ext cx="502920" cy="502920"/>
          </a:xfrm>
          <a:prstGeom prst="ellipse">
            <a:avLst/>
          </a:prstGeom>
          <a:solidFill>
            <a:srgbClr val="1976D2"/>
          </a:solidFill>
          <a:ln w="12700">
            <a:solidFill>
              <a:srgbClr val="BBDEFB"/>
            </a:solidFill>
            <a:prstDash val="solid"/>
          </a:ln>
        </p:spPr>
      </p:sp>
      <p:pic>
        <p:nvPicPr>
          <p:cNvPr id="6" name="Image 1" descr="Seedl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4522" y="540410"/>
            <a:ext cx="281635" cy="281635"/>
          </a:xfrm>
          <a:prstGeom prst="rect">
            <a:avLst/>
          </a:prstGeom>
        </p:spPr>
      </p:pic>
      <p:sp>
        <p:nvSpPr>
          <p:cNvPr id="7" name="Langkah 01"/>
          <p:cNvSpPr/>
          <p:nvPr/>
        </p:nvSpPr>
        <p:spPr>
          <a:xfrm>
            <a:off x="525780" y="1371600"/>
            <a:ext cx="1508760" cy="2286000"/>
          </a:xfrm>
          <a:prstGeom prst="roundRect">
            <a:avLst>
              <a:gd name="adj" fmla="val 9091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35508" y="1508760"/>
            <a:ext cx="129844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BBDEFB"/>
                </a:solidFill>
              </a:rPr>
              <a:t>01</a:t>
            </a:r>
            <a:endParaRPr lang="en-US" sz="2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Cek Data</a:t>
            </a:r>
            <a:endParaRPr lang="en-US" sz="2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0 missing value, 0 duplikat</a:t>
            </a:r>
            <a:endParaRPr lang="en-US" sz="2400" dirty="0"/>
          </a:p>
        </p:txBody>
      </p:sp>
      <p:sp>
        <p:nvSpPr>
          <p:cNvPr id="9" name="Langkah 02"/>
          <p:cNvSpPr/>
          <p:nvPr/>
        </p:nvSpPr>
        <p:spPr>
          <a:xfrm>
            <a:off x="2171700" y="1371600"/>
            <a:ext cx="1508760" cy="2286000"/>
          </a:xfrm>
          <a:prstGeom prst="roundRect">
            <a:avLst>
              <a:gd name="adj" fmla="val 9091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281428" y="1508760"/>
            <a:ext cx="129844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BBDEFB"/>
                </a:solidFill>
              </a:rPr>
              <a:t>02</a:t>
            </a:r>
            <a:endParaRPr lang="en-US" sz="2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Encoding</a:t>
            </a:r>
            <a:endParaRPr lang="en-US" sz="2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LabelEncoder: 4 tanaman jadi angka 0–3</a:t>
            </a:r>
            <a:endParaRPr lang="en-US" sz="2400" dirty="0"/>
          </a:p>
        </p:txBody>
      </p:sp>
      <p:sp>
        <p:nvSpPr>
          <p:cNvPr id="11" name="Langkah 03"/>
          <p:cNvSpPr/>
          <p:nvPr/>
        </p:nvSpPr>
        <p:spPr>
          <a:xfrm>
            <a:off x="3817620" y="1371600"/>
            <a:ext cx="1508760" cy="2286000"/>
          </a:xfrm>
          <a:prstGeom prst="roundRect">
            <a:avLst>
              <a:gd name="adj" fmla="val 9091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927348" y="1508760"/>
            <a:ext cx="129844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BBDEFB"/>
                </a:solidFill>
              </a:rPr>
              <a:t>03</a:t>
            </a:r>
            <a:endParaRPr lang="en-US" sz="2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Split Data</a:t>
            </a:r>
            <a:endParaRPr lang="en-US" sz="2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80% latih (320), 20% uji (80), stratified</a:t>
            </a:r>
            <a:endParaRPr lang="en-US" sz="2400" dirty="0"/>
          </a:p>
        </p:txBody>
      </p:sp>
      <p:sp>
        <p:nvSpPr>
          <p:cNvPr id="13" name="Langkah 04"/>
          <p:cNvSpPr/>
          <p:nvPr/>
        </p:nvSpPr>
        <p:spPr>
          <a:xfrm>
            <a:off x="5463540" y="1371600"/>
            <a:ext cx="1508760" cy="2286000"/>
          </a:xfrm>
          <a:prstGeom prst="roundRect">
            <a:avLst>
              <a:gd name="adj" fmla="val 9091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573268" y="1508760"/>
            <a:ext cx="129844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BBDEFB"/>
                </a:solidFill>
              </a:rPr>
              <a:t>04</a:t>
            </a:r>
            <a:endParaRPr lang="en-US" sz="2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Standarisasi</a:t>
            </a:r>
            <a:endParaRPr lang="en-US" sz="2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StandardScaler, fit pada data latih</a:t>
            </a:r>
            <a:endParaRPr lang="en-US" sz="2400" dirty="0"/>
          </a:p>
        </p:txBody>
      </p:sp>
      <p:sp>
        <p:nvSpPr>
          <p:cNvPr id="15" name="Langkah 05"/>
          <p:cNvSpPr/>
          <p:nvPr/>
        </p:nvSpPr>
        <p:spPr>
          <a:xfrm>
            <a:off x="7109460" y="1371600"/>
            <a:ext cx="1508760" cy="2286000"/>
          </a:xfrm>
          <a:prstGeom prst="roundRect">
            <a:avLst>
              <a:gd name="adj" fmla="val 9091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219188" y="1508760"/>
            <a:ext cx="129844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BBDEFB"/>
                </a:solidFill>
              </a:rPr>
              <a:t>05</a:t>
            </a:r>
            <a:endParaRPr lang="en-US" sz="2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Training</a:t>
            </a:r>
            <a:endParaRPr lang="en-US" sz="2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Seleksi fitur, lalu 2 algoritma dilatih dan dievaluasi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BDEF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plit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47A1"/>
                </a:solidFill>
              </a:rPr>
              <a:t>Split Data</a:t>
            </a:r>
            <a:endParaRPr lang="en-US" sz="3600" dirty="0"/>
          </a:p>
        </p:txBody>
      </p:sp>
      <p:sp>
        <p:nvSpPr>
          <p:cNvPr id="11" name="Stat 1"/>
          <p:cNvSpPr/>
          <p:nvPr/>
        </p:nvSpPr>
        <p:spPr>
          <a:xfrm>
            <a:off x="548640" y="1280160"/>
            <a:ext cx="1874520" cy="1325880"/>
          </a:xfrm>
          <a:prstGeom prst="roundRect">
            <a:avLst>
              <a:gd name="adj" fmla="val 882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685800" y="1444752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320</a:t>
            </a:r>
            <a:endParaRPr lang="en-US" sz="4000" dirty="0"/>
          </a:p>
          <a:p>
            <a:pPr marL="0" indent="0">
              <a:buNone/>
            </a:pPr>
            <a:r>
              <a:rPr lang="en-US" sz="1400" dirty="0">
                <a:solidFill>
                  <a:srgbClr val="E3F2FD"/>
                </a:solidFill>
              </a:rPr>
              <a:t>data latih (80%)</a:t>
            </a:r>
            <a:endParaRPr lang="en-US" sz="4000" dirty="0"/>
          </a:p>
        </p:txBody>
      </p:sp>
      <p:sp>
        <p:nvSpPr>
          <p:cNvPr id="13" name="Stat 2"/>
          <p:cNvSpPr/>
          <p:nvPr/>
        </p:nvSpPr>
        <p:spPr>
          <a:xfrm>
            <a:off x="2606040" y="1280160"/>
            <a:ext cx="1874520" cy="1325880"/>
          </a:xfrm>
          <a:prstGeom prst="roundRect">
            <a:avLst>
              <a:gd name="adj" fmla="val 8824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2743200" y="1444752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80</a:t>
            </a:r>
            <a:endParaRPr lang="en-US" sz="4000" dirty="0"/>
          </a:p>
          <a:p>
            <a:pPr marL="0" indent="0">
              <a:buNone/>
            </a:pPr>
            <a:r>
              <a:rPr lang="en-US" sz="1400" dirty="0">
                <a:solidFill>
                  <a:srgbClr val="E3F2FD"/>
                </a:solidFill>
              </a:rPr>
              <a:t>data uji (20%)</a:t>
            </a:r>
            <a:endParaRPr lang="en-US" sz="4000" dirty="0"/>
          </a:p>
        </p:txBody>
      </p:sp>
      <p:sp>
        <p:nvSpPr>
          <p:cNvPr id="15" name="Stat 3"/>
          <p:cNvSpPr/>
          <p:nvPr/>
        </p:nvSpPr>
        <p:spPr>
          <a:xfrm>
            <a:off x="4663440" y="1280160"/>
            <a:ext cx="1874520" cy="1325880"/>
          </a:xfrm>
          <a:prstGeom prst="roundRect">
            <a:avLst>
              <a:gd name="adj" fmla="val 882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4800600" y="1444752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20</a:t>
            </a:r>
            <a:endParaRPr lang="en-US" sz="4000" dirty="0"/>
          </a:p>
          <a:p>
            <a:pPr marL="0" indent="0">
              <a:buNone/>
            </a:pPr>
            <a:r>
              <a:rPr lang="en-US" sz="1400" dirty="0">
                <a:solidFill>
                  <a:srgbClr val="E3F2FD"/>
                </a:solidFill>
              </a:rPr>
              <a:t>data uji per tanaman</a:t>
            </a:r>
            <a:endParaRPr lang="en-US" sz="4000" dirty="0"/>
          </a:p>
        </p:txBody>
      </p:sp>
      <p:sp>
        <p:nvSpPr>
          <p:cNvPr id="17" name="Stat 4"/>
          <p:cNvSpPr/>
          <p:nvPr/>
        </p:nvSpPr>
        <p:spPr>
          <a:xfrm>
            <a:off x="6720840" y="1280160"/>
            <a:ext cx="1874520" cy="1325880"/>
          </a:xfrm>
          <a:prstGeom prst="roundRect">
            <a:avLst>
              <a:gd name="adj" fmla="val 8824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6858000" y="1444752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42</a:t>
            </a:r>
            <a:endParaRPr lang="en-US" sz="4000" dirty="0"/>
          </a:p>
          <a:p>
            <a:pPr marL="0" indent="0">
              <a:buNone/>
            </a:pPr>
            <a:r>
              <a:rPr lang="en-US" sz="1400" dirty="0">
                <a:solidFill>
                  <a:srgbClr val="E3F2FD"/>
                </a:solidFill>
              </a:rPr>
              <a:t>random_state</a:t>
            </a:r>
            <a:endParaRPr lang="en-US" sz="4000" dirty="0"/>
          </a:p>
        </p:txBody>
      </p:sp>
      <p:sp>
        <p:nvSpPr>
          <p:cNvPr id="19" name="Info Dataset"/>
          <p:cNvSpPr/>
          <p:nvPr/>
        </p:nvSpPr>
        <p:spPr>
          <a:xfrm>
            <a:off x="548640" y="2834640"/>
            <a:ext cx="8046720" cy="1783080"/>
          </a:xfrm>
          <a:prstGeom prst="roundRect">
            <a:avLst>
              <a:gd name="adj" fmla="val 10345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777240" y="297180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</a:rPr>
              <a:t>1. Pisahkan: </a:t>
            </a:r>
            <a:r>
              <a:rPr lang="en-US" sz="1400" dirty="0">
                <a:solidFill>
                  <a:srgbClr val="1A2B3C"/>
                </a:solidFill>
              </a:rPr>
              <a:t>X = 7 fitur, y = label tanaman (hasil encoding 0–3)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</a:rPr>
              <a:t>2. Bagi data: </a:t>
            </a:r>
            <a:r>
              <a:rPr lang="en-US" sz="1400" dirty="0">
                <a:solidFill>
                  <a:srgbClr val="1A2B3C"/>
                </a:solidFill>
              </a:rPr>
              <a:t>train_test_split dengan test_size = 0,2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</a:rPr>
              <a:t>3. Stratify: </a:t>
            </a:r>
            <a:r>
              <a:rPr lang="en-US" sz="1400" dirty="0">
                <a:solidFill>
                  <a:srgbClr val="1A2B3C"/>
                </a:solidFill>
              </a:rPr>
              <a:t>proporsi 4 kelas sama di data latih dan data uji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</a:rPr>
              <a:t>4. Hasil: </a:t>
            </a:r>
            <a:r>
              <a:rPr lang="en-US" sz="1400" dirty="0">
                <a:solidFill>
                  <a:srgbClr val="1A2B3C"/>
                </a:solidFill>
              </a:rPr>
              <a:t>X_train 320 baris (80 per kelas), X_test 80 baris (20 per kelas)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</a:rPr>
              <a:t>5. Urutan: </a:t>
            </a:r>
            <a:r>
              <a:rPr lang="en-US" sz="1400" dirty="0">
                <a:solidFill>
                  <a:srgbClr val="1A2B3C"/>
                </a:solidFill>
              </a:rPr>
              <a:t>split dilakukan sebelum standarisasi agar data uji tidak ikut memengaruhi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7D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andarisa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47A1"/>
                </a:solidFill>
              </a:rPr>
              <a:t>Standarisasi</a:t>
            </a:r>
            <a:endParaRPr lang="en-US" sz="3600" dirty="0"/>
          </a:p>
        </p:txBody>
      </p:sp>
      <p:sp>
        <p:nvSpPr>
          <p:cNvPr id="3" name="Ikon FaChartColumn"/>
          <p:cNvSpPr/>
          <p:nvPr/>
        </p:nvSpPr>
        <p:spPr>
          <a:xfrm>
            <a:off x="7571232" y="429768"/>
            <a:ext cx="502920" cy="5029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4" name="Image 0" descr="ChartColum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874" y="540410"/>
            <a:ext cx="281635" cy="281635"/>
          </a:xfrm>
          <a:prstGeom prst="rect">
            <a:avLst/>
          </a:prstGeom>
        </p:spPr>
      </p:pic>
      <p:sp>
        <p:nvSpPr>
          <p:cNvPr id="5" name="Ikon FaLeaf"/>
          <p:cNvSpPr/>
          <p:nvPr/>
        </p:nvSpPr>
        <p:spPr>
          <a:xfrm>
            <a:off x="8183880" y="429768"/>
            <a:ext cx="502920" cy="5029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6" name="Image 1" descr="Lea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4522" y="540410"/>
            <a:ext cx="281635" cy="281635"/>
          </a:xfrm>
          <a:prstGeom prst="rect">
            <a:avLst/>
          </a:prstGeom>
        </p:spPr>
      </p:pic>
      <p:pic>
        <p:nvPicPr>
          <p:cNvPr id="7" name="Image 2" descr="Histogram humidity sebelum dan sesudah standarisas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88720"/>
            <a:ext cx="3017520" cy="2606040"/>
          </a:xfrm>
          <a:prstGeom prst="rect">
            <a:avLst/>
          </a:prstGeom>
        </p:spPr>
      </p:pic>
      <p:pic>
        <p:nvPicPr>
          <p:cNvPr id="14" name="Image 3" descr="Scatter plot curah hujan dan pH sebelum dan sesudah standarisasi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188720"/>
            <a:ext cx="4983480" cy="2606040"/>
          </a:xfrm>
          <a:prstGeom prst="rect">
            <a:avLst/>
          </a:prstGeom>
        </p:spPr>
      </p:pic>
      <p:sp>
        <p:nvSpPr>
          <p:cNvPr id="8" name="Insight 1"/>
          <p:cNvSpPr/>
          <p:nvPr/>
        </p:nvSpPr>
        <p:spPr>
          <a:xfrm>
            <a:off x="457200" y="3931920"/>
            <a:ext cx="2651760" cy="777240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594360" y="4005072"/>
            <a:ext cx="23774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Rumus: z = (x − μ) / σ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Tiap fitur: rata-rata 0, std 1</a:t>
            </a:r>
            <a:endParaRPr lang="en-US" sz="1400" dirty="0"/>
          </a:p>
        </p:txBody>
      </p:sp>
      <p:sp>
        <p:nvSpPr>
          <p:cNvPr id="10" name="Insight 2"/>
          <p:cNvSpPr/>
          <p:nvPr/>
        </p:nvSpPr>
        <p:spPr>
          <a:xfrm>
            <a:off x="3246120" y="3931920"/>
            <a:ext cx="2651760" cy="777240"/>
          </a:xfrm>
          <a:prstGeom prst="roundRect">
            <a:avLst>
              <a:gd name="adj" fmla="val 14286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3383280" y="4005072"/>
            <a:ext cx="23774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fit_transform pada data latih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μ dan σ dihitung dari 320 data latih</a:t>
            </a:r>
            <a:endParaRPr lang="en-US" sz="1400" dirty="0"/>
          </a:p>
        </p:txBody>
      </p:sp>
      <p:sp>
        <p:nvSpPr>
          <p:cNvPr id="12" name="Insight 3"/>
          <p:cNvSpPr/>
          <p:nvPr/>
        </p:nvSpPr>
        <p:spPr>
          <a:xfrm>
            <a:off x="6035040" y="3931920"/>
            <a:ext cx="2651760" cy="777240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172200" y="4005072"/>
            <a:ext cx="23774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transform pada data uji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Memakai μ dan σ data latih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7D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anking Fit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47A1"/>
                </a:solidFill>
              </a:rPr>
              <a:t>Ranking Fitur</a:t>
            </a:r>
            <a:endParaRPr lang="en-US" sz="3600" dirty="0"/>
          </a:p>
        </p:txBody>
      </p:sp>
      <p:sp>
        <p:nvSpPr>
          <p:cNvPr id="3" name="Ikon FaChartColumn"/>
          <p:cNvSpPr/>
          <p:nvPr/>
        </p:nvSpPr>
        <p:spPr>
          <a:xfrm>
            <a:off x="8183880" y="429768"/>
            <a:ext cx="502920" cy="5029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4" name="Image 0" descr="ChartColum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4522" y="540410"/>
            <a:ext cx="281635" cy="281635"/>
          </a:xfrm>
          <a:prstGeom prst="rect">
            <a:avLst/>
          </a:prstGeom>
        </p:spPr>
      </p:pic>
      <p:sp>
        <p:nvSpPr>
          <p:cNvPr id="6" name="Kartu Metode Ranking"/>
          <p:cNvSpPr/>
          <p:nvPr/>
        </p:nvSpPr>
        <p:spPr>
          <a:xfrm>
            <a:off x="6035040" y="1280160"/>
            <a:ext cx="2651760" cy="1600200"/>
          </a:xfrm>
          <a:prstGeom prst="roundRect">
            <a:avLst>
              <a:gd name="adj" fmla="val 8571"/>
            </a:avLst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217920" y="14173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id-ID" sz="1600" b="1" dirty="0">
                <a:solidFill>
                  <a:srgbClr val="FFFFFF"/>
                </a:solidFill>
              </a:rPr>
              <a:t>Tiga metode ranking</a:t>
            </a:r>
          </a:p>
          <a:p>
            <a:pPr marL="0" indent="0">
              <a:buNone/>
            </a:pPr>
            <a:r>
              <a:rPr lang="id-ID" sz="1400" dirty="0">
                <a:solidFill>
                  <a:srgbClr val="FFFFFF"/>
                </a:solidFill>
              </a:rPr>
              <a:t>ANOVA F-score (filter)</a:t>
            </a:r>
          </a:p>
          <a:p>
            <a:pPr marL="0" indent="0">
              <a:buNone/>
            </a:pPr>
            <a:r>
              <a:rPr lang="id-ID" sz="1400" dirty="0">
                <a:solidFill>
                  <a:srgbClr val="FFFFFF"/>
                </a:solidFill>
              </a:rPr>
              <a:t>Importance RF (embedded)</a:t>
            </a:r>
          </a:p>
          <a:p>
            <a:pPr marL="0" indent="0">
              <a:buNone/>
            </a:pPr>
            <a:r>
              <a:rPr lang="id-ID" sz="1400" dirty="0">
                <a:solidFill>
                  <a:srgbClr val="FFFFFF"/>
                </a:solidFill>
              </a:rPr>
              <a:t>RFE (wrapper)</a:t>
            </a:r>
          </a:p>
        </p:txBody>
      </p:sp>
      <p:sp>
        <p:nvSpPr>
          <p:cNvPr id="8" name="Kartu Temuan Ranking"/>
          <p:cNvSpPr/>
          <p:nvPr/>
        </p:nvSpPr>
        <p:spPr>
          <a:xfrm>
            <a:off x="6035040" y="3017520"/>
            <a:ext cx="2651760" cy="1600200"/>
          </a:xfrm>
          <a:prstGeom prst="roundRect">
            <a:avLst>
              <a:gd name="adj" fmla="val 857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217920" y="315468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id-ID" sz="1600" b="1" dirty="0">
                <a:solidFill>
                  <a:srgbClr val="FFFFFF"/>
                </a:solidFill>
              </a:rPr>
              <a:t>Temuan</a:t>
            </a:r>
          </a:p>
          <a:p>
            <a:pPr marL="0" indent="0">
              <a:buNone/>
            </a:pPr>
            <a:r>
              <a:rPr lang="id-ID" sz="1400" dirty="0">
                <a:solidFill>
                  <a:srgbClr val="FFFFFF"/>
                </a:solidFill>
              </a:rPr>
              <a:t>Fitur humidity dan K selalu di peringkat 1 dan 2 pada ketiga metode; temperature paling lemah.</a:t>
            </a:r>
          </a:p>
        </p:txBody>
      </p:sp>
      <p:sp>
        <p:nvSpPr>
          <p:cNvPr id="50" name="Catatan"/>
          <p:cNvSpPr txBox="1"/>
          <p:nvPr/>
        </p:nvSpPr>
        <p:spPr>
          <a:xfrm>
            <a:off x="137160" y="4632960"/>
            <a:ext cx="58978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id-ID" sz="800" dirty="0">
                <a:solidFill>
                  <a:schemeClr val="tx2"/>
                </a:solidFill>
              </a:rPr>
              <a:t>Dihitung pada 320 data latih setelah standarisasi. Ranking 1 = paling penting; urutan akhir dari rata-rata tiga ranking. Baris biru = fitur terpilih.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7D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F031EB-CDF0-F085-7FEA-E96592735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88920"/>
            <a:ext cx="5079015" cy="16839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28AAA00-2B3E-620E-556E-708A5E9323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1146832"/>
            <a:ext cx="4979670" cy="146592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leksi Fit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47A1"/>
                </a:solidFill>
              </a:rPr>
              <a:t>Seleksi Fitur</a:t>
            </a:r>
            <a:endParaRPr lang="en-US" sz="3600" dirty="0"/>
          </a:p>
        </p:txBody>
      </p:sp>
      <p:sp>
        <p:nvSpPr>
          <p:cNvPr id="3" name="Ikon FaChartColumn"/>
          <p:cNvSpPr/>
          <p:nvPr/>
        </p:nvSpPr>
        <p:spPr>
          <a:xfrm>
            <a:off x="8183880" y="429768"/>
            <a:ext cx="502920" cy="5029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4" name="Image 0" descr="ChartColum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4522" y="540410"/>
            <a:ext cx="281635" cy="281635"/>
          </a:xfrm>
          <a:prstGeom prst="rect">
            <a:avLst/>
          </a:prstGeom>
        </p:spPr>
      </p:pic>
      <p:sp>
        <p:nvSpPr>
          <p:cNvPr id="6" name="Kartu Fitur Terpilih"/>
          <p:cNvSpPr/>
          <p:nvPr/>
        </p:nvSpPr>
        <p:spPr>
          <a:xfrm>
            <a:off x="6035040" y="1280160"/>
            <a:ext cx="2651760" cy="1600200"/>
          </a:xfrm>
          <a:prstGeom prst="roundRect">
            <a:avLst>
              <a:gd name="adj" fmla="val 8571"/>
            </a:avLst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217920" y="14173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Fitur terpilih</a:t>
            </a:r>
            <a:endParaRPr lang="en-US" sz="1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2 fitur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E3F2FD"/>
                </a:solidFill>
              </a:rPr>
              <a:t>humidity dan K, CV 100%</a:t>
            </a:r>
            <a:endParaRPr lang="en-US" sz="1600" dirty="0"/>
          </a:p>
        </p:txBody>
      </p:sp>
      <p:sp>
        <p:nvSpPr>
          <p:cNvPr id="8" name="Kartu Urutan Fitur"/>
          <p:cNvSpPr/>
          <p:nvPr/>
        </p:nvSpPr>
        <p:spPr>
          <a:xfrm>
            <a:off x="6035040" y="3017520"/>
            <a:ext cx="2651760" cy="1600200"/>
          </a:xfrm>
          <a:prstGeom prst="roundRect">
            <a:avLst>
              <a:gd name="adj" fmla="val 857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217920" y="315468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Urutan kepentingan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humidity, K, rainfall, N, pH, P, temperature</a:t>
            </a:r>
            <a:endParaRPr lang="en-US" sz="1400" dirty="0"/>
          </a:p>
        </p:txBody>
      </p:sp>
      <p:sp>
        <p:nvSpPr>
          <p:cNvPr id="50" name="Catatan"/>
          <p:cNvSpPr txBox="1"/>
          <p:nvPr/>
        </p:nvSpPr>
        <p:spPr>
          <a:xfrm>
            <a:off x="457200" y="42976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id-ID" sz="1100" dirty="0">
                <a:solidFill>
                  <a:srgbClr val="607D8B"/>
                </a:solidFill>
              </a:rPr>
              <a:t>Ranking gabungan ANOVA F-score, importance Random Forest, dan RFE pada data latih. Model akhir tetap memakai 7 fitur.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7D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9EA6022-663E-1393-C087-074B3A6A7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948" y="1043807"/>
            <a:ext cx="5448772" cy="30558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47A1"/>
                </a:solidFill>
              </a:rPr>
              <a:t>2 Algoritma Klasifikasi</a:t>
            </a:r>
            <a:endParaRPr lang="en-US" sz="3600" dirty="0"/>
          </a:p>
        </p:txBody>
      </p:sp>
      <p:sp>
        <p:nvSpPr>
          <p:cNvPr id="3" name="Ikon FaBrain"/>
          <p:cNvSpPr/>
          <p:nvPr/>
        </p:nvSpPr>
        <p:spPr>
          <a:xfrm>
            <a:off x="8183880" y="429768"/>
            <a:ext cx="502920" cy="5029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4" name="Image 0" descr="Bra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4522" y="540410"/>
            <a:ext cx="281635" cy="281635"/>
          </a:xfrm>
          <a:prstGeom prst="rect">
            <a:avLst/>
          </a:prstGeom>
        </p:spPr>
      </p:pic>
      <p:sp>
        <p:nvSpPr>
          <p:cNvPr id="9" name="Algoritma 3"/>
          <p:cNvSpPr/>
          <p:nvPr/>
        </p:nvSpPr>
        <p:spPr>
          <a:xfrm>
            <a:off x="457200" y="1325880"/>
            <a:ext cx="4023360" cy="2331720"/>
          </a:xfrm>
          <a:prstGeom prst="roundRect">
            <a:avLst>
              <a:gd name="adj" fmla="val 9375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50876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D47A1"/>
                </a:solidFill>
              </a:rPr>
              <a:t>Random Forest</a:t>
            </a:r>
            <a:endParaRPr lang="en-US" sz="20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400" dirty="0">
                <a:solidFill>
                  <a:srgbClr val="1A2B3C"/>
                </a:solidFill>
              </a:rPr>
              <a:t>Gabungan 100 pohon keputusan (n_estimators = 100)</a:t>
            </a:r>
            <a:endParaRPr lang="en-US" sz="14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400" dirty="0">
                <a:solidFill>
                  <a:srgbClr val="1A2B3C"/>
                </a:solidFill>
              </a:rPr>
              <a:t>Hasil akhir ditentukan dari voting banyak pohon</a:t>
            </a:r>
            <a:endParaRPr lang="en-US" sz="14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400" dirty="0">
                <a:solidFill>
                  <a:srgbClr val="1A2B3C"/>
                </a:solidFill>
              </a:rPr>
              <a:t>Menghasilkan feature importance untuk seleksi fitur</a:t>
            </a:r>
            <a:endParaRPr lang="en-US" sz="1400" dirty="0"/>
          </a:p>
        </p:txBody>
      </p:sp>
      <p:sp>
        <p:nvSpPr>
          <p:cNvPr id="15" name="Algoritma 6"/>
          <p:cNvSpPr/>
          <p:nvPr/>
        </p:nvSpPr>
        <p:spPr>
          <a:xfrm>
            <a:off x="4663440" y="1325880"/>
            <a:ext cx="3794760" cy="2331720"/>
          </a:xfrm>
          <a:prstGeom prst="roundRect">
            <a:avLst>
              <a:gd name="adj" fmla="val 9375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1508760"/>
            <a:ext cx="3429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D47A1"/>
                </a:solidFill>
              </a:rPr>
              <a:t>Naive Bayes</a:t>
            </a:r>
            <a:endParaRPr lang="en-US" sz="20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400" dirty="0">
                <a:solidFill>
                  <a:srgbClr val="1A2B3C"/>
                </a:solidFill>
              </a:rPr>
              <a:t>Gaussian Naive Bayes, probabilistik berbasis teorema Bayes</a:t>
            </a:r>
            <a:endParaRPr lang="en-US" sz="14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400" dirty="0">
                <a:solidFill>
                  <a:srgbClr val="1A2B3C"/>
                </a:solidFill>
              </a:rPr>
              <a:t>Mengasumsikan setiap fitur saling independen</a:t>
            </a:r>
            <a:endParaRPr lang="en-US" sz="14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400" dirty="0">
                <a:solidFill>
                  <a:srgbClr val="1A2B3C"/>
                </a:solidFill>
              </a:rPr>
              <a:t>Ringan dan cepat dilatih</a:t>
            </a:r>
            <a:endParaRPr lang="en-US" sz="1400" dirty="0"/>
          </a:p>
        </p:txBody>
      </p:sp>
      <p:sp>
        <p:nvSpPr>
          <p:cNvPr id="40" name="Panel 8"/>
          <p:cNvSpPr/>
          <p:nvPr/>
        </p:nvSpPr>
        <p:spPr>
          <a:xfrm>
            <a:off x="685800" y="3840480"/>
            <a:ext cx="7772400" cy="685800"/>
          </a:xfrm>
          <a:prstGeom prst="roundRect">
            <a:avLst>
              <a:gd name="adj" fmla="val 14286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41" name="Text 9"/>
          <p:cNvSpPr txBox="1"/>
          <p:nvPr/>
        </p:nvSpPr>
        <p:spPr>
          <a:xfrm>
            <a:off x="868680" y="3931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id-ID" sz="1400" b="1" dirty="0">
                <a:solidFill>
                  <a:srgbClr val="0D47A1"/>
                </a:solidFill>
              </a:rPr>
              <a:t>Evaluasi: akurasi, presisi, recall, dan F1-score (weighted)</a:t>
            </a:r>
          </a:p>
          <a:p>
            <a:pPr marL="0" indent="0">
              <a:buNone/>
            </a:pPr>
            <a:r>
              <a:rPr lang="id-ID" sz="1400" dirty="0">
                <a:solidFill>
                  <a:srgbClr val="263238"/>
                </a:solidFill>
              </a:rPr>
              <a:t>Data distandarisasi dengan StandardScaler, random_state = 42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7D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31F2C8-C85B-B7FF-B491-2AB29B4080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89999" l="10000" r="90000"/>
                    </a14:imgEffect>
                  </a14:imgLayer>
                </a14:imgProps>
              </a:ext>
            </a:extLst>
          </a:blip>
          <a:srcRect t="-14626" b="1"/>
          <a:stretch>
            <a:fillRect/>
          </a:stretch>
        </p:blipFill>
        <p:spPr>
          <a:xfrm>
            <a:off x="4572000" y="2649794"/>
            <a:ext cx="2965195" cy="1190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193FE7-10BA-A621-F07C-8A15E9A4EE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8704" r="90000">
                        <a14:foregroundMark x1="9352" y1="26970" x2="10093" y2="60303"/>
                        <a14:foregroundMark x1="14074" y1="69091" x2="8704" y2="67879"/>
                        <a14:foregroundMark x1="16296" y1="63333" x2="11111" y2="63030"/>
                        <a14:foregroundMark x1="11111" y1="63030" x2="10926" y2="64545"/>
                        <a14:foregroundMark x1="14167" y1="66061" x2="19722" y2="61515"/>
                        <a14:foregroundMark x1="19722" y1="61515" x2="15000" y2="70000"/>
                        <a14:foregroundMark x1="15648" y1="56667" x2="17500" y2="61212"/>
                        <a14:foregroundMark x1="9352" y1="69697" x2="8796" y2="721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5760" y="2771966"/>
            <a:ext cx="3422141" cy="104565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ses Trai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Proses Training</a:t>
            </a:r>
            <a:endParaRPr lang="en-US" sz="3600" dirty="0"/>
          </a:p>
        </p:txBody>
      </p:sp>
      <p:sp>
        <p:nvSpPr>
          <p:cNvPr id="3" name="Ikon FaFlask"/>
          <p:cNvSpPr/>
          <p:nvPr/>
        </p:nvSpPr>
        <p:spPr>
          <a:xfrm>
            <a:off x="7571232" y="429768"/>
            <a:ext cx="502920" cy="502920"/>
          </a:xfrm>
          <a:prstGeom prst="ellipse">
            <a:avLst/>
          </a:prstGeom>
          <a:solidFill>
            <a:srgbClr val="1976D2"/>
          </a:solidFill>
          <a:ln w="12700">
            <a:solidFill>
              <a:srgbClr val="BBDEFB"/>
            </a:solidFill>
            <a:prstDash val="solid"/>
          </a:ln>
        </p:spPr>
      </p:sp>
      <p:pic>
        <p:nvPicPr>
          <p:cNvPr id="4" name="Image 0" descr="Flas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874" y="540410"/>
            <a:ext cx="281635" cy="281635"/>
          </a:xfrm>
          <a:prstGeom prst="rect">
            <a:avLst/>
          </a:prstGeom>
        </p:spPr>
      </p:pic>
      <p:sp>
        <p:nvSpPr>
          <p:cNvPr id="5" name="Ikon FaSeedling"/>
          <p:cNvSpPr/>
          <p:nvPr/>
        </p:nvSpPr>
        <p:spPr>
          <a:xfrm>
            <a:off x="8183880" y="429768"/>
            <a:ext cx="502920" cy="502920"/>
          </a:xfrm>
          <a:prstGeom prst="ellipse">
            <a:avLst/>
          </a:prstGeom>
          <a:solidFill>
            <a:srgbClr val="1976D2"/>
          </a:solidFill>
          <a:ln w="12700">
            <a:solidFill>
              <a:srgbClr val="BBDEFB"/>
            </a:solidFill>
            <a:prstDash val="solid"/>
          </a:ln>
        </p:spPr>
      </p:sp>
      <p:pic>
        <p:nvPicPr>
          <p:cNvPr id="6" name="Image 1" descr="Seedl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4522" y="540410"/>
            <a:ext cx="281635" cy="281635"/>
          </a:xfrm>
          <a:prstGeom prst="rect">
            <a:avLst/>
          </a:prstGeom>
        </p:spPr>
      </p:pic>
      <p:sp>
        <p:nvSpPr>
          <p:cNvPr id="7" name="Langkah 01"/>
          <p:cNvSpPr/>
          <p:nvPr/>
        </p:nvSpPr>
        <p:spPr>
          <a:xfrm>
            <a:off x="525780" y="1371600"/>
            <a:ext cx="1508760" cy="2286000"/>
          </a:xfrm>
          <a:prstGeom prst="roundRect">
            <a:avLst>
              <a:gd name="adj" fmla="val 9091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35508" y="1508760"/>
            <a:ext cx="129844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BBDEFB"/>
                </a:solidFill>
              </a:rPr>
              <a:t>01</a:t>
            </a:r>
            <a:endParaRPr lang="en-US" sz="2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Siapkan</a:t>
            </a:r>
            <a:endParaRPr lang="en-US" sz="2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X_train_scaled dan y_train (320 data)</a:t>
            </a:r>
            <a:endParaRPr lang="en-US" sz="2400" dirty="0"/>
          </a:p>
        </p:txBody>
      </p:sp>
      <p:sp>
        <p:nvSpPr>
          <p:cNvPr id="9" name="Langkah 02"/>
          <p:cNvSpPr/>
          <p:nvPr/>
        </p:nvSpPr>
        <p:spPr>
          <a:xfrm>
            <a:off x="2171700" y="1371600"/>
            <a:ext cx="1508760" cy="2286000"/>
          </a:xfrm>
          <a:prstGeom prst="roundRect">
            <a:avLst>
              <a:gd name="adj" fmla="val 9091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281428" y="1508760"/>
            <a:ext cx="129844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BBDEFB"/>
                </a:solidFill>
              </a:rPr>
              <a:t>02</a:t>
            </a:r>
            <a:endParaRPr lang="en-US" sz="2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Fit</a:t>
            </a:r>
            <a:endParaRPr lang="en-US" sz="2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Random Forest (100 pohon) dan Naive Bayes dilatih</a:t>
            </a:r>
            <a:endParaRPr lang="en-US" sz="2400" dirty="0"/>
          </a:p>
        </p:txBody>
      </p:sp>
      <p:sp>
        <p:nvSpPr>
          <p:cNvPr id="11" name="Langkah 03"/>
          <p:cNvSpPr/>
          <p:nvPr/>
        </p:nvSpPr>
        <p:spPr>
          <a:xfrm>
            <a:off x="3817620" y="1371600"/>
            <a:ext cx="1508760" cy="2286000"/>
          </a:xfrm>
          <a:prstGeom prst="roundRect">
            <a:avLst>
              <a:gd name="adj" fmla="val 9091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927348" y="1508760"/>
            <a:ext cx="129844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BBDEFB"/>
                </a:solidFill>
              </a:rPr>
              <a:t>03</a:t>
            </a:r>
            <a:endParaRPr lang="en-US" sz="2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Prediksi</a:t>
            </a:r>
            <a:endParaRPr lang="en-US" sz="2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predict pada X_test_scaled (80 data)</a:t>
            </a:r>
            <a:endParaRPr lang="en-US" sz="2400" dirty="0"/>
          </a:p>
        </p:txBody>
      </p:sp>
      <p:sp>
        <p:nvSpPr>
          <p:cNvPr id="13" name="Langkah 04"/>
          <p:cNvSpPr/>
          <p:nvPr/>
        </p:nvSpPr>
        <p:spPr>
          <a:xfrm>
            <a:off x="5463540" y="1371600"/>
            <a:ext cx="1508760" cy="2286000"/>
          </a:xfrm>
          <a:prstGeom prst="roundRect">
            <a:avLst>
              <a:gd name="adj" fmla="val 9091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573268" y="1508760"/>
            <a:ext cx="129844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BBDEFB"/>
                </a:solidFill>
              </a:rPr>
              <a:t>04</a:t>
            </a:r>
            <a:endParaRPr lang="en-US" sz="2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Evaluasi</a:t>
            </a:r>
            <a:endParaRPr lang="en-US" sz="2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Akurasi, presisi, recall, F1-score</a:t>
            </a:r>
            <a:endParaRPr lang="en-US" sz="2400" dirty="0"/>
          </a:p>
        </p:txBody>
      </p:sp>
      <p:sp>
        <p:nvSpPr>
          <p:cNvPr id="15" name="Langkah 05"/>
          <p:cNvSpPr/>
          <p:nvPr/>
        </p:nvSpPr>
        <p:spPr>
          <a:xfrm>
            <a:off x="7109460" y="1371600"/>
            <a:ext cx="1508760" cy="2286000"/>
          </a:xfrm>
          <a:prstGeom prst="roundRect">
            <a:avLst>
              <a:gd name="adj" fmla="val 9091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219188" y="1508760"/>
            <a:ext cx="129844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BBDEFB"/>
                </a:solidFill>
              </a:rPr>
              <a:t>05</a:t>
            </a:r>
            <a:endParaRPr lang="en-US" sz="2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Pilih Model</a:t>
            </a:r>
            <a:endParaRPr lang="en-US" sz="2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Akurasi tertinggi, lalu confusion matrix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BDEF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etrik Evalua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75260" y="-381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47A1"/>
                </a:solidFill>
              </a:rPr>
              <a:t>Metrik Evaluasi</a:t>
            </a:r>
            <a:endParaRPr lang="en-US" sz="2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B5A0653-D018-4501-2DC5-D088D58E57CA}"/>
              </a:ext>
            </a:extLst>
          </p:cNvPr>
          <p:cNvGrpSpPr/>
          <p:nvPr/>
        </p:nvGrpSpPr>
        <p:grpSpPr>
          <a:xfrm>
            <a:off x="708486" y="617220"/>
            <a:ext cx="7033260" cy="731520"/>
            <a:chOff x="548640" y="1280160"/>
            <a:chExt cx="8046720" cy="1325880"/>
          </a:xfrm>
        </p:grpSpPr>
        <p:sp>
          <p:nvSpPr>
            <p:cNvPr id="11" name="Stat 1"/>
            <p:cNvSpPr/>
            <p:nvPr/>
          </p:nvSpPr>
          <p:spPr>
            <a:xfrm>
              <a:off x="548640" y="1280160"/>
              <a:ext cx="1874520" cy="1325880"/>
            </a:xfrm>
            <a:prstGeom prst="roundRect">
              <a:avLst>
                <a:gd name="adj" fmla="val 8824"/>
              </a:avLst>
            </a:prstGeom>
            <a:solidFill>
              <a:srgbClr val="1565C0"/>
            </a:solidFill>
            <a:ln w="12700">
              <a:solidFill>
                <a:srgbClr val="1565C0"/>
              </a:solidFill>
              <a:prstDash val="solid"/>
            </a:ln>
          </p:spPr>
        </p:sp>
        <p:sp>
          <p:nvSpPr>
            <p:cNvPr id="12" name="Text 6"/>
            <p:cNvSpPr txBox="1"/>
            <p:nvPr/>
          </p:nvSpPr>
          <p:spPr>
            <a:xfrm>
              <a:off x="685800" y="1444752"/>
              <a:ext cx="160020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FFFFFF"/>
                  </a:solidFill>
                </a:rPr>
                <a:t>100%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E3F2FD"/>
                  </a:solidFill>
                </a:rPr>
                <a:t>Akurasi</a:t>
              </a:r>
              <a:endParaRPr lang="en-US" sz="2400" dirty="0"/>
            </a:p>
          </p:txBody>
        </p:sp>
        <p:sp>
          <p:nvSpPr>
            <p:cNvPr id="13" name="Stat 2"/>
            <p:cNvSpPr/>
            <p:nvPr/>
          </p:nvSpPr>
          <p:spPr>
            <a:xfrm>
              <a:off x="2606040" y="1280160"/>
              <a:ext cx="1874520" cy="1325880"/>
            </a:xfrm>
            <a:prstGeom prst="roundRect">
              <a:avLst>
                <a:gd name="adj" fmla="val 8824"/>
              </a:avLst>
            </a:prstGeom>
            <a:solidFill>
              <a:srgbClr val="1976D2"/>
            </a:solidFill>
            <a:ln w="12700">
              <a:solidFill>
                <a:srgbClr val="1976D2"/>
              </a:solidFill>
              <a:prstDash val="solid"/>
            </a:ln>
          </p:spPr>
        </p:sp>
        <p:sp>
          <p:nvSpPr>
            <p:cNvPr id="14" name="Text 8"/>
            <p:cNvSpPr txBox="1"/>
            <p:nvPr/>
          </p:nvSpPr>
          <p:spPr>
            <a:xfrm>
              <a:off x="2743200" y="1444752"/>
              <a:ext cx="160020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FFFFFF"/>
                  </a:solidFill>
                </a:rPr>
                <a:t>100%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E3F2FD"/>
                  </a:solidFill>
                </a:rPr>
                <a:t>Presisi</a:t>
              </a:r>
              <a:endParaRPr lang="en-US" sz="2400" dirty="0"/>
            </a:p>
          </p:txBody>
        </p:sp>
        <p:sp>
          <p:nvSpPr>
            <p:cNvPr id="15" name="Stat 3"/>
            <p:cNvSpPr/>
            <p:nvPr/>
          </p:nvSpPr>
          <p:spPr>
            <a:xfrm>
              <a:off x="4663440" y="1280160"/>
              <a:ext cx="1874520" cy="1325880"/>
            </a:xfrm>
            <a:prstGeom prst="roundRect">
              <a:avLst>
                <a:gd name="adj" fmla="val 8824"/>
              </a:avLst>
            </a:prstGeom>
            <a:solidFill>
              <a:srgbClr val="1565C0"/>
            </a:solidFill>
            <a:ln w="12700">
              <a:solidFill>
                <a:srgbClr val="1565C0"/>
              </a:solidFill>
              <a:prstDash val="solid"/>
            </a:ln>
          </p:spPr>
        </p:sp>
        <p:sp>
          <p:nvSpPr>
            <p:cNvPr id="16" name="Text 10"/>
            <p:cNvSpPr txBox="1"/>
            <p:nvPr/>
          </p:nvSpPr>
          <p:spPr>
            <a:xfrm>
              <a:off x="4800600" y="1444752"/>
              <a:ext cx="160020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FFFFFF"/>
                  </a:solidFill>
                </a:rPr>
                <a:t>100%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E3F2FD"/>
                  </a:solidFill>
                </a:rPr>
                <a:t>Recall</a:t>
              </a:r>
              <a:endParaRPr lang="en-US" sz="2400" dirty="0"/>
            </a:p>
          </p:txBody>
        </p:sp>
        <p:sp>
          <p:nvSpPr>
            <p:cNvPr id="17" name="Stat 4"/>
            <p:cNvSpPr/>
            <p:nvPr/>
          </p:nvSpPr>
          <p:spPr>
            <a:xfrm>
              <a:off x="6720840" y="1280160"/>
              <a:ext cx="1874520" cy="1325880"/>
            </a:xfrm>
            <a:prstGeom prst="roundRect">
              <a:avLst>
                <a:gd name="adj" fmla="val 8824"/>
              </a:avLst>
            </a:prstGeom>
            <a:solidFill>
              <a:srgbClr val="1976D2"/>
            </a:solidFill>
            <a:ln w="12700">
              <a:solidFill>
                <a:srgbClr val="1976D2"/>
              </a:solidFill>
              <a:prstDash val="solid"/>
            </a:ln>
          </p:spPr>
        </p:sp>
        <p:sp>
          <p:nvSpPr>
            <p:cNvPr id="18" name="Text 12"/>
            <p:cNvSpPr txBox="1"/>
            <p:nvPr/>
          </p:nvSpPr>
          <p:spPr>
            <a:xfrm>
              <a:off x="6858000" y="1444752"/>
              <a:ext cx="160020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FFFFFF"/>
                  </a:solidFill>
                </a:rPr>
                <a:t>100%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E3F2FD"/>
                  </a:solidFill>
                </a:rPr>
                <a:t>F1-score</a:t>
              </a:r>
              <a:endParaRPr lang="en-US" sz="2400" dirty="0"/>
            </a:p>
          </p:txBody>
        </p:sp>
      </p:grpSp>
      <p:sp>
        <p:nvSpPr>
          <p:cNvPr id="19" name="Info Dataset"/>
          <p:cNvSpPr/>
          <p:nvPr/>
        </p:nvSpPr>
        <p:spPr>
          <a:xfrm>
            <a:off x="548640" y="2834640"/>
            <a:ext cx="8046720" cy="1783080"/>
          </a:xfrm>
          <a:prstGeom prst="roundRect">
            <a:avLst>
              <a:gd name="adj" fmla="val 10345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777240" y="297180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</a:rPr>
              <a:t>Akurasi: </a:t>
            </a:r>
            <a:r>
              <a:rPr lang="en-US" sz="1400" dirty="0">
                <a:solidFill>
                  <a:srgbClr val="1A2B3C"/>
                </a:solidFill>
              </a:rPr>
              <a:t>prediksi benar dari seluruh data uji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</a:rPr>
              <a:t>Presisi: </a:t>
            </a:r>
            <a:r>
              <a:rPr lang="en-US" sz="1400" dirty="0">
                <a:solidFill>
                  <a:srgbClr val="1A2B3C"/>
                </a:solidFill>
              </a:rPr>
              <a:t>dari yang diprediksi sebagai suatu tanaman, berapa yang benar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</a:rPr>
              <a:t>Recall: </a:t>
            </a:r>
            <a:r>
              <a:rPr lang="en-US" sz="1400" dirty="0">
                <a:solidFill>
                  <a:srgbClr val="1A2B3C"/>
                </a:solidFill>
              </a:rPr>
              <a:t>dari yang sebenarnya tanaman itu, berapa yang berhasil dikenali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</a:rPr>
              <a:t>F1-score: </a:t>
            </a:r>
            <a:r>
              <a:rPr lang="en-US" sz="1400" dirty="0">
                <a:solidFill>
                  <a:srgbClr val="1A2B3C"/>
                </a:solidFill>
              </a:rPr>
              <a:t>rata-rata harmonik presisi dan recall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</a:rPr>
              <a:t>Hasil: </a:t>
            </a:r>
            <a:r>
              <a:rPr lang="en-US" sz="1400" dirty="0">
                <a:solidFill>
                  <a:srgbClr val="1A2B3C"/>
                </a:solidFill>
              </a:rPr>
              <a:t>Random Forest dan Naive Bayes sama-sama 1,00 (weighted average, 80 data uji)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7D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B2018E-F128-2B27-4E12-B813D9B090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029"/>
          <a:stretch>
            <a:fillRect/>
          </a:stretch>
        </p:blipFill>
        <p:spPr>
          <a:xfrm>
            <a:off x="807362" y="1633833"/>
            <a:ext cx="6950155" cy="93791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47A1"/>
                </a:solidFill>
              </a:rPr>
              <a:t>Hasil Evaluasi</a:t>
            </a:r>
            <a:endParaRPr lang="en-US" sz="3600" dirty="0"/>
          </a:p>
        </p:txBody>
      </p:sp>
      <p:sp>
        <p:nvSpPr>
          <p:cNvPr id="3" name="Ikon FaTrophy"/>
          <p:cNvSpPr/>
          <p:nvPr/>
        </p:nvSpPr>
        <p:spPr>
          <a:xfrm>
            <a:off x="8183880" y="429768"/>
            <a:ext cx="502920" cy="5029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4" name="Image 0" descr="Troph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4522" y="540410"/>
            <a:ext cx="281635" cy="281635"/>
          </a:xfrm>
          <a:prstGeom prst="rect">
            <a:avLst/>
          </a:prstGeom>
        </p:spPr>
      </p:pic>
      <p:graphicFrame>
        <p:nvGraphicFramePr>
          <p:cNvPr id="5" name="Chart 0"/>
          <p:cNvGraphicFramePr/>
          <p:nvPr/>
        </p:nvGraphicFramePr>
        <p:xfrm>
          <a:off x="365760" y="1188720"/>
          <a:ext cx="539496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kor Random Forest"/>
          <p:cNvSpPr/>
          <p:nvPr/>
        </p:nvSpPr>
        <p:spPr>
          <a:xfrm>
            <a:off x="6035040" y="1280160"/>
            <a:ext cx="2651760" cy="1600200"/>
          </a:xfrm>
          <a:prstGeom prst="roundRect">
            <a:avLst>
              <a:gd name="adj" fmla="val 8571"/>
            </a:avLst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217920" y="14173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Random Forest</a:t>
            </a:r>
            <a:endParaRPr lang="en-US" sz="1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100%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E3F2FD"/>
                </a:solidFill>
              </a:rPr>
              <a:t>Akurasi  |  F1-score 100%</a:t>
            </a:r>
            <a:endParaRPr lang="en-US" sz="1600" dirty="0"/>
          </a:p>
        </p:txBody>
      </p:sp>
      <p:sp>
        <p:nvSpPr>
          <p:cNvPr id="8" name="Skor Naive Bayes"/>
          <p:cNvSpPr/>
          <p:nvPr/>
        </p:nvSpPr>
        <p:spPr>
          <a:xfrm>
            <a:off x="6035040" y="3017520"/>
            <a:ext cx="2651760" cy="1600200"/>
          </a:xfrm>
          <a:prstGeom prst="roundRect">
            <a:avLst>
              <a:gd name="adj" fmla="val 857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217920" y="315468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Naive Bayes</a:t>
            </a:r>
            <a:endParaRPr lang="en-US" sz="1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100%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E3F2FD"/>
                </a:solidFill>
              </a:rPr>
              <a:t>Akurasi  |  F1-score 100%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7D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alidasi Sila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47A1"/>
                </a:solidFill>
              </a:rPr>
              <a:t>Validasi Silang</a:t>
            </a:r>
            <a:endParaRPr lang="en-US" sz="3600" dirty="0"/>
          </a:p>
        </p:txBody>
      </p:sp>
      <p:sp>
        <p:nvSpPr>
          <p:cNvPr id="3" name="Ikon FaChartColumn"/>
          <p:cNvSpPr/>
          <p:nvPr/>
        </p:nvSpPr>
        <p:spPr>
          <a:xfrm>
            <a:off x="8183880" y="429768"/>
            <a:ext cx="502920" cy="5029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4" name="Image 0" descr="ChartColum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4522" y="540410"/>
            <a:ext cx="281635" cy="281635"/>
          </a:xfrm>
          <a:prstGeom prst="rect">
            <a:avLst/>
          </a:prstGeom>
        </p:spPr>
      </p:pic>
      <p:sp>
        <p:nvSpPr>
          <p:cNvPr id="6" name="Kartu CV RF"/>
          <p:cNvSpPr/>
          <p:nvPr/>
        </p:nvSpPr>
        <p:spPr>
          <a:xfrm>
            <a:off x="6035040" y="1280160"/>
            <a:ext cx="2651760" cy="1600200"/>
          </a:xfrm>
          <a:prstGeom prst="roundRect">
            <a:avLst>
              <a:gd name="adj" fmla="val 8571"/>
            </a:avLst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217920" y="14173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Random Forest</a:t>
            </a:r>
            <a:endParaRPr lang="en-US" sz="1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100%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E3F2FD"/>
                </a:solidFill>
              </a:rPr>
              <a:t>Akurasi rata-rata  |  std 0,00</a:t>
            </a:r>
            <a:endParaRPr lang="en-US" sz="1600" dirty="0"/>
          </a:p>
        </p:txBody>
      </p:sp>
      <p:sp>
        <p:nvSpPr>
          <p:cNvPr id="8" name="Kartu CV NB"/>
          <p:cNvSpPr/>
          <p:nvPr/>
        </p:nvSpPr>
        <p:spPr>
          <a:xfrm>
            <a:off x="6035040" y="3017520"/>
            <a:ext cx="2651760" cy="1600200"/>
          </a:xfrm>
          <a:prstGeom prst="roundRect">
            <a:avLst>
              <a:gd name="adj" fmla="val 857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217920" y="315468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Naive Bayes</a:t>
            </a:r>
            <a:endParaRPr lang="en-US" sz="1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100%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E3F2FD"/>
                </a:solidFill>
              </a:rPr>
              <a:t>Akurasi rata-rata  |  std 0,00</a:t>
            </a:r>
            <a:endParaRPr lang="en-US" sz="1600" dirty="0"/>
          </a:p>
        </p:txBody>
      </p:sp>
      <p:sp>
        <p:nvSpPr>
          <p:cNvPr id="50" name="Catatan"/>
          <p:cNvSpPr txBox="1"/>
          <p:nvPr/>
        </p:nvSpPr>
        <p:spPr>
          <a:xfrm>
            <a:off x="457200" y="42976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id-ID" sz="1100" dirty="0">
                <a:solidFill>
                  <a:srgbClr val="607D8B"/>
                </a:solidFill>
              </a:rPr>
              <a:t>Stratified 5-Fold pada 400 sampel. StandardScaler berada di dalam pipeline sehingga tidak ada data leakage.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7D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E5F740-7FE1-A4E6-57F3-86BB8336B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05" y="1169539"/>
            <a:ext cx="5425910" cy="301016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47A1"/>
                </a:solidFill>
              </a:rPr>
              <a:t>Model Terbaik</a:t>
            </a:r>
            <a:endParaRPr lang="en-US" sz="3600" dirty="0"/>
          </a:p>
        </p:txBody>
      </p:sp>
      <p:sp>
        <p:nvSpPr>
          <p:cNvPr id="3" name="Ikon FaBullseye"/>
          <p:cNvSpPr/>
          <p:nvPr/>
        </p:nvSpPr>
        <p:spPr>
          <a:xfrm>
            <a:off x="8183880" y="429768"/>
            <a:ext cx="502920" cy="5029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4" name="Image 0" descr="Bullsey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4522" y="540410"/>
            <a:ext cx="281635" cy="281635"/>
          </a:xfrm>
          <a:prstGeom prst="rect">
            <a:avLst/>
          </a:prstGeom>
        </p:spPr>
      </p:pic>
      <p:sp>
        <p:nvSpPr>
          <p:cNvPr id="6" name="Temuan 1"/>
          <p:cNvSpPr/>
          <p:nvPr/>
        </p:nvSpPr>
        <p:spPr>
          <a:xfrm>
            <a:off x="5212080" y="1280160"/>
            <a:ext cx="3474720" cy="1005840"/>
          </a:xfrm>
          <a:prstGeom prst="roundRect">
            <a:avLst>
              <a:gd name="adj" fmla="val 1363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376672" y="138988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Random Forest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Akurasi 100% pada data uji, seri dengan Naive Bayes</a:t>
            </a:r>
            <a:endParaRPr lang="en-US" sz="1600" dirty="0"/>
          </a:p>
        </p:txBody>
      </p:sp>
      <p:sp>
        <p:nvSpPr>
          <p:cNvPr id="8" name="Temuan 2"/>
          <p:cNvSpPr/>
          <p:nvPr/>
        </p:nvSpPr>
        <p:spPr>
          <a:xfrm>
            <a:off x="5212080" y="2423160"/>
            <a:ext cx="3474720" cy="1005840"/>
          </a:xfrm>
          <a:prstGeom prst="roundRect">
            <a:avLst>
              <a:gd name="adj" fmla="val 13636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376672" y="253288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 salah dari 80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Keempat tanaman diprediksi 100% benar</a:t>
            </a:r>
            <a:endParaRPr lang="en-US" sz="1600" dirty="0"/>
          </a:p>
        </p:txBody>
      </p:sp>
      <p:sp>
        <p:nvSpPr>
          <p:cNvPr id="10" name="Temuan 3"/>
          <p:cNvSpPr/>
          <p:nvPr/>
        </p:nvSpPr>
        <p:spPr>
          <a:xfrm>
            <a:off x="5212080" y="3566160"/>
            <a:ext cx="3474720" cy="1005840"/>
          </a:xfrm>
          <a:prstGeom prst="roundRect">
            <a:avLst>
              <a:gd name="adj" fmla="val 1363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376672" y="367588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Skor sempurna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Profil 4 tanaman sangat berbeda; data lapangan bisa lebih berisik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7D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636C99-6E78-934A-EF88-37D683C8A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085" y="1191603"/>
            <a:ext cx="3878915" cy="318989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47A1"/>
                </a:solidFill>
              </a:rPr>
              <a:t>Simulasi Inferensi</a:t>
            </a:r>
            <a:endParaRPr lang="en-US" sz="3600" dirty="0"/>
          </a:p>
        </p:txBody>
      </p:sp>
      <p:sp>
        <p:nvSpPr>
          <p:cNvPr id="3" name="Ikon FaWheatAwn"/>
          <p:cNvSpPr/>
          <p:nvPr/>
        </p:nvSpPr>
        <p:spPr>
          <a:xfrm>
            <a:off x="6958584" y="429768"/>
            <a:ext cx="502920" cy="5029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4" name="Image 0" descr="WheatAw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9226" y="540410"/>
            <a:ext cx="281635" cy="281635"/>
          </a:xfrm>
          <a:prstGeom prst="rect">
            <a:avLst/>
          </a:prstGeom>
        </p:spPr>
      </p:pic>
      <p:sp>
        <p:nvSpPr>
          <p:cNvPr id="5" name="Ikon FaCloudRain"/>
          <p:cNvSpPr/>
          <p:nvPr/>
        </p:nvSpPr>
        <p:spPr>
          <a:xfrm>
            <a:off x="7571232" y="429768"/>
            <a:ext cx="502920" cy="5029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6" name="Image 1" descr="CloudRai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1874" y="540410"/>
            <a:ext cx="281635" cy="281635"/>
          </a:xfrm>
          <a:prstGeom prst="rect">
            <a:avLst/>
          </a:prstGeom>
        </p:spPr>
      </p:pic>
      <p:sp>
        <p:nvSpPr>
          <p:cNvPr id="7" name="Ikon FaTemperatureHalf"/>
          <p:cNvSpPr/>
          <p:nvPr/>
        </p:nvSpPr>
        <p:spPr>
          <a:xfrm>
            <a:off x="8183880" y="429768"/>
            <a:ext cx="502920" cy="5029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A5D6A7"/>
            </a:solidFill>
            <a:prstDash val="solid"/>
          </a:ln>
        </p:spPr>
      </p:sp>
      <p:pic>
        <p:nvPicPr>
          <p:cNvPr id="8" name="Image 2" descr="TemperatureHal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4522" y="540410"/>
            <a:ext cx="281635" cy="281635"/>
          </a:xfrm>
          <a:prstGeom prst="rect">
            <a:avLst/>
          </a:prstGeom>
        </p:spPr>
      </p:pic>
      <p:sp>
        <p:nvSpPr>
          <p:cNvPr id="9" name="Input Lahan"/>
          <p:cNvSpPr/>
          <p:nvPr/>
        </p:nvSpPr>
        <p:spPr>
          <a:xfrm>
            <a:off x="457200" y="1280160"/>
            <a:ext cx="3840480" cy="3291840"/>
          </a:xfrm>
          <a:prstGeom prst="roundRect">
            <a:avLst>
              <a:gd name="adj" fmla="val 4167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8580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</a:rPr>
              <a:t>Input lahan baru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74520"/>
          <a:ext cx="3383280" cy="243230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</a:rPr>
                        <a:t>Nitrogen (N)</a:t>
                      </a:r>
                      <a:endParaRPr lang="en-US" sz="14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D47A1"/>
                          </a:solidFill>
                        </a:rPr>
                        <a:t>90</a:t>
                      </a:r>
                      <a:endParaRPr lang="en-US" sz="14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</a:rPr>
                        <a:t>Fosfor (P)</a:t>
                      </a:r>
                      <a:endParaRPr lang="en-US" sz="14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D47A1"/>
                          </a:solidFill>
                        </a:rPr>
                        <a:t>42</a:t>
                      </a:r>
                      <a:endParaRPr lang="en-US" sz="14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</a:rPr>
                        <a:t>Kalium (K)</a:t>
                      </a:r>
                      <a:endParaRPr lang="en-US" sz="14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D47A1"/>
                          </a:solidFill>
                        </a:rPr>
                        <a:t>43</a:t>
                      </a:r>
                      <a:endParaRPr lang="en-US" sz="14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</a:rPr>
                        <a:t>Suhu</a:t>
                      </a:r>
                      <a:endParaRPr lang="en-US" sz="14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D47A1"/>
                          </a:solidFill>
                        </a:rPr>
                        <a:t>21 °C</a:t>
                      </a:r>
                      <a:endParaRPr lang="en-US" sz="14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</a:rPr>
                        <a:t>Kelembapan</a:t>
                      </a:r>
                      <a:endParaRPr lang="en-US" sz="14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D47A1"/>
                          </a:solidFill>
                        </a:rPr>
                        <a:t>82 %</a:t>
                      </a:r>
                      <a:endParaRPr lang="en-US" sz="14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</a:rPr>
                        <a:t>pH</a:t>
                      </a:r>
                      <a:endParaRPr lang="en-US" sz="14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D47A1"/>
                          </a:solidFill>
                        </a:rPr>
                        <a:t>6,5</a:t>
                      </a:r>
                      <a:endParaRPr lang="en-US" sz="14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B3C"/>
                          </a:solidFill>
                        </a:rPr>
                        <a:t>Curah hujan</a:t>
                      </a:r>
                      <a:endParaRPr lang="en-US" sz="14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D47A1"/>
                          </a:solidFill>
                        </a:rPr>
                        <a:t>203 mm</a:t>
                      </a:r>
                      <a:endParaRPr lang="en-US" sz="14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 6"/>
          <p:cNvSpPr txBox="1"/>
          <p:nvPr/>
        </p:nvSpPr>
        <p:spPr>
          <a:xfrm>
            <a:off x="4663440" y="1280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</a:rPr>
              <a:t>Top 3 rekomendasi</a:t>
            </a:r>
            <a:endParaRPr lang="en-US" sz="1600" dirty="0"/>
          </a:p>
        </p:txBody>
      </p:sp>
      <p:sp>
        <p:nvSpPr>
          <p:cNvPr id="13" name="Text 7"/>
          <p:cNvSpPr txBox="1"/>
          <p:nvPr/>
        </p:nvSpPr>
        <p:spPr>
          <a:xfrm>
            <a:off x="4663440" y="1828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</a:rPr>
              <a:t>Rice</a:t>
            </a:r>
            <a:endParaRPr lang="en-US" sz="1400" dirty="0"/>
          </a:p>
        </p:txBody>
      </p:sp>
      <p:sp>
        <p:nvSpPr>
          <p:cNvPr id="14" name="Track Rice"/>
          <p:cNvSpPr/>
          <p:nvPr/>
        </p:nvSpPr>
        <p:spPr>
          <a:xfrm>
            <a:off x="6080760" y="1901952"/>
            <a:ext cx="1691640" cy="219456"/>
          </a:xfrm>
          <a:prstGeom prst="roundRect">
            <a:avLst>
              <a:gd name="adj" fmla="val 41667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5" name="Bar Rice"/>
          <p:cNvSpPr/>
          <p:nvPr/>
        </p:nvSpPr>
        <p:spPr>
          <a:xfrm>
            <a:off x="6080760" y="1901952"/>
            <a:ext cx="1691640" cy="219456"/>
          </a:xfrm>
          <a:prstGeom prst="roundRect">
            <a:avLst>
              <a:gd name="adj" fmla="val 41667"/>
            </a:avLst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7818120" y="18288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A2B3C"/>
                </a:solidFill>
              </a:rPr>
              <a:t>100,00%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466344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</a:rPr>
              <a:t>Maize</a:t>
            </a:r>
            <a:endParaRPr lang="en-US" sz="1400" dirty="0"/>
          </a:p>
        </p:txBody>
      </p:sp>
      <p:sp>
        <p:nvSpPr>
          <p:cNvPr id="18" name="Track Maize"/>
          <p:cNvSpPr/>
          <p:nvPr/>
        </p:nvSpPr>
        <p:spPr>
          <a:xfrm>
            <a:off x="6080760" y="2496312"/>
            <a:ext cx="1691640" cy="219456"/>
          </a:xfrm>
          <a:prstGeom prst="roundRect">
            <a:avLst>
              <a:gd name="adj" fmla="val 41667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7818120" y="24231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A2B3C"/>
                </a:solidFill>
              </a:rPr>
              <a:t>0,00%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4663440" y="3017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</a:rPr>
              <a:t>Kidneybeans</a:t>
            </a:r>
            <a:endParaRPr lang="en-US" sz="1400" dirty="0"/>
          </a:p>
        </p:txBody>
      </p:sp>
      <p:sp>
        <p:nvSpPr>
          <p:cNvPr id="22" name="Track Kidneybeans"/>
          <p:cNvSpPr/>
          <p:nvPr/>
        </p:nvSpPr>
        <p:spPr>
          <a:xfrm>
            <a:off x="6080760" y="3090672"/>
            <a:ext cx="1691640" cy="219456"/>
          </a:xfrm>
          <a:prstGeom prst="roundRect">
            <a:avLst>
              <a:gd name="adj" fmla="val 41667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7818120" y="30175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A2B3C"/>
                </a:solidFill>
              </a:rPr>
              <a:t>0,00%</a:t>
            </a:r>
            <a:endParaRPr lang="en-US" sz="1400" dirty="0"/>
          </a:p>
        </p:txBody>
      </p:sp>
      <p:sp>
        <p:nvSpPr>
          <p:cNvPr id="24" name="Hasil Rekomendasi"/>
          <p:cNvSpPr/>
          <p:nvPr/>
        </p:nvSpPr>
        <p:spPr>
          <a:xfrm>
            <a:off x="4663440" y="3749040"/>
            <a:ext cx="4023360" cy="822960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4846320" y="3840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Rekomendasi: RICE (padi)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E3F2FD"/>
                </a:solidFill>
              </a:rPr>
              <a:t>Keyakinan model 100,00%</a:t>
            </a:r>
            <a:endParaRPr lang="en-US" sz="1600" dirty="0"/>
          </a:p>
        </p:txBody>
      </p:sp>
      <p:sp>
        <p:nvSpPr>
          <p:cNvPr id="26" name="Ikon GiWheat"/>
          <p:cNvSpPr/>
          <p:nvPr/>
        </p:nvSpPr>
        <p:spPr>
          <a:xfrm>
            <a:off x="7955280" y="3886200"/>
            <a:ext cx="548640" cy="548640"/>
          </a:xfrm>
          <a:prstGeom prst="ellipse">
            <a:avLst/>
          </a:prstGeom>
          <a:solidFill>
            <a:srgbClr val="1976D2"/>
          </a:solidFill>
          <a:ln w="12700">
            <a:solidFill>
              <a:srgbClr val="BBDEFB"/>
            </a:solidFill>
            <a:prstDash val="solid"/>
          </a:ln>
        </p:spPr>
      </p:sp>
      <p:pic>
        <p:nvPicPr>
          <p:cNvPr id="27" name="Image 3" descr="Whea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5981" y="4006901"/>
            <a:ext cx="307238" cy="307238"/>
          </a:xfrm>
          <a:prstGeom prst="rect">
            <a:avLst/>
          </a:prstGeom>
        </p:spPr>
      </p:pic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7D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Kesimpulan</a:t>
            </a:r>
            <a:endParaRPr lang="en-US" sz="3600" dirty="0"/>
          </a:p>
        </p:txBody>
      </p:sp>
      <p:sp>
        <p:nvSpPr>
          <p:cNvPr id="3" name="Kesimpulan 1"/>
          <p:cNvSpPr/>
          <p:nvPr/>
        </p:nvSpPr>
        <p:spPr>
          <a:xfrm>
            <a:off x="548640" y="1325880"/>
            <a:ext cx="2560320" cy="1828800"/>
          </a:xfrm>
          <a:prstGeom prst="roundRect">
            <a:avLst>
              <a:gd name="adj" fmla="val 7500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Model Terbaik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Random Forest dan Naive Bayes sama-sama 100% pada 80 data uji dan 5-fold CV. Humidity dan K sudah cukup.</a:t>
            </a:r>
            <a:endParaRPr lang="en-US" sz="1800" dirty="0"/>
          </a:p>
        </p:txBody>
      </p:sp>
      <p:sp>
        <p:nvSpPr>
          <p:cNvPr id="5" name="Kesimpulan 2"/>
          <p:cNvSpPr/>
          <p:nvPr/>
        </p:nvSpPr>
        <p:spPr>
          <a:xfrm>
            <a:off x="3291840" y="1325880"/>
            <a:ext cx="2560320" cy="1828800"/>
          </a:xfrm>
          <a:prstGeom prst="roundRect">
            <a:avLst>
              <a:gd name="adj" fmla="val 7500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474720" y="150876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Dampak SDGs 2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Tanaman sesuai lahan: produktivitas naik, gagal panen turun, pupuk dan air lebih efisien.</a:t>
            </a:r>
            <a:endParaRPr lang="en-US" sz="1800" dirty="0"/>
          </a:p>
        </p:txBody>
      </p:sp>
      <p:sp>
        <p:nvSpPr>
          <p:cNvPr id="7" name="Kesimpulan 3"/>
          <p:cNvSpPr/>
          <p:nvPr/>
        </p:nvSpPr>
        <p:spPr>
          <a:xfrm>
            <a:off x="6035040" y="1325880"/>
            <a:ext cx="2560320" cy="1828800"/>
          </a:xfrm>
          <a:prstGeom prst="roundRect">
            <a:avLst>
              <a:gd name="adj" fmla="val 7500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0" y="150876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Catatan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Skor sempurna karena 4 tanaman mudah dipisahkan; data lapangan lebih berisik.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66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op ML Blue">
  <a:themeElements>
    <a:clrScheme name="Crop ML Blue">
      <a:dk1>
        <a:srgbClr val="1A2B3C"/>
      </a:dk1>
      <a:lt1>
        <a:srgbClr val="FFFFFF"/>
      </a:lt1>
      <a:dk2>
        <a:srgbClr val="0D47A1"/>
      </a:dk2>
      <a:lt2>
        <a:srgbClr val="E3F2FD"/>
      </a:lt2>
      <a:accent1>
        <a:srgbClr val="1565C0"/>
      </a:accent1>
      <a:accent2>
        <a:srgbClr val="1976D2"/>
      </a:accent2>
      <a:accent3>
        <a:srgbClr val="64B5F6"/>
      </a:accent3>
      <a:accent4>
        <a:srgbClr val="0D47A1"/>
      </a:accent4>
      <a:accent5>
        <a:srgbClr val="90CAF9"/>
      </a:accent5>
      <a:accent6>
        <a:srgbClr val="2E7D32"/>
      </a:accent6>
      <a:hlink>
        <a:srgbClr val="1565C0"/>
      </a:hlink>
      <a:folHlink>
        <a:srgbClr val="0D47A1"/>
      </a:folHlink>
    </a:clrScheme>
    <a:fontScheme name="Crop ML Blu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1322</Words>
  <Application>Microsoft Office PowerPoint</Application>
  <PresentationFormat>On-screen Show (16:9)</PresentationFormat>
  <Paragraphs>333</Paragraphs>
  <Slides>23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Crop ML Blue</vt:lpstr>
      <vt:lpstr>PowerPoint Presentation</vt:lpstr>
      <vt:lpstr>Penyusun</vt:lpstr>
      <vt:lpstr>Latar Belakang</vt:lpstr>
      <vt:lpstr>Dataset</vt:lpstr>
      <vt:lpstr>Tampilan Data Mentah</vt:lpstr>
      <vt:lpstr>Eksplorasi Data</vt:lpstr>
      <vt:lpstr>Korelasi Antar Fitur</vt:lpstr>
      <vt:lpstr>Hubungan Fitur dan Label</vt:lpstr>
      <vt:lpstr>Fitur per Jenis Tanaman (1)</vt:lpstr>
      <vt:lpstr>Fitur per Jenis Tanaman (2)</vt:lpstr>
      <vt:lpstr>Alur Pemrosesan</vt:lpstr>
      <vt:lpstr>Split Data</vt:lpstr>
      <vt:lpstr>Standarisasi</vt:lpstr>
      <vt:lpstr>Ranking Fitur</vt:lpstr>
      <vt:lpstr>Seleksi Fitur</vt:lpstr>
      <vt:lpstr>2 Algoritma Klasifikasi</vt:lpstr>
      <vt:lpstr>Proses Training</vt:lpstr>
      <vt:lpstr>Metrik Evaluasi</vt:lpstr>
      <vt:lpstr>Hasil Evaluasi</vt:lpstr>
      <vt:lpstr>Validasi Silang</vt:lpstr>
      <vt:lpstr>Model Terbaik</vt:lpstr>
      <vt:lpstr>Simulasi Inferensi</vt:lpstr>
      <vt:lpstr>Kesimpulan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Rekomendasi Tanaman Pangan dengan Machine Learning</dc:title>
  <dc:subject>PptxGenJS Presentation</dc:subject>
  <dc:creator>PptxGenJS</dc:creator>
  <cp:lastModifiedBy>AINUL YAKIN</cp:lastModifiedBy>
  <cp:revision>6</cp:revision>
  <dcterms:created xsi:type="dcterms:W3CDTF">2026-10-04T18:14:25Z</dcterms:created>
  <dcterms:modified xsi:type="dcterms:W3CDTF">2026-10-11T19:40:38Z</dcterms:modified>
</cp:coreProperties>
</file>